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94dbe56-e8bf-8b28-e991-d9a6a9cc174f}">
          <p14:sldIdLst>
            <p14:sldId id="256"/>
          </p14:sldIdLst>
        </p14:section>
        <p14:section name="Problem" id="{0c04bc60-a6b9-eebf-4543-245df0c3d441}">
          <p14:sldIdLst>
            <p14:sldId id="257"/>
          </p14:sldIdLst>
        </p14:section>
        <p14:section name="Solution" id="{f858db38-0971-2d18-88a1-e5d25b65d325}">
          <p14:sldIdLst>
            <p14:sldId id="258"/>
          </p14:sldIdLst>
        </p14:section>
        <p14:section name="Data" id="{4452e158-7bfd-8daf-4379-32bcef2969d7}">
          <p14:sldIdLst>
            <p14:sldId id="259"/>
            <p14:sldId id="260"/>
          </p14:sldIdLst>
        </p14:section>
        <p14:section name="Model" id="{d2df6a3e-4535-2607-ec47-ebb0e8df326d}">
          <p14:sldIdLst>
            <p14:sldId id="261"/>
            <p14:sldId id="262"/>
          </p14:sldIdLst>
        </p14:section>
        <p14:section name="Results" id="{531d7f2f-ede2-4887-2b1a-8ea5c6b36f27}">
          <p14:sldIdLst>
            <p14:sldId id="263"/>
            <p14:sldId id="264"/>
            <p14:sldId id="265"/>
            <p14:sldId id="266"/>
            <p14:sldId id="267"/>
            <p14:sldId id="268"/>
          </p14:sldIdLst>
        </p14:section>
        <p14:section name="Prototype" id="{cba0f67b-9239-d970-9f99-a246bc9ab488}">
          <p14:sldIdLst>
            <p14:sldId id="269"/>
            <p14:sldId id="270"/>
            <p14:sldId id="271"/>
          </p14:sldIdLst>
        </p14:section>
        <p14:section name="Next steps" id="{6d935239-fa0d-61dc-d747-484fd1291aeb}">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hackers_ from IIT (ISM) Dhanbad, presented by team leader Korra Santhosh. GlucoTwin is a proof-of-concept digital twin for people with diabetes: it fuses the patient record with continuous glucose and wearable data, and warns 30 minutes to 2 hours before glucose goes above 180 mg/dL.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people with diabetes and 136 million with prediabetes (ICMR-INDIAB, Lancet Diabetes &amp; Endocrinology 2023). Hyperglycaemia causes long-term complications, yet monitoring is reactive. We want a forward-looking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has two inputs, exactly as the challenge asks: a static clinical record and a dynamic sensor stream. They are fused into one feature vector; three models give the risk for three horizons; the doctor sees it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training dataset is openly available and anonymised, as the challenge rules require. The 100 Type 2 patients from Shanghai are the closest open match to the Indian population and come with a real clinical summary. OhioT1DM is under a data-use agreement, so we only use it locally as an unseen external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real work was data engineering. Each of these problems would silently inflate or corrupt accuracy; we caught them with sanity checks and lock them down with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 features describe the last minutes to days of glucose, insulin, meals and activity, and the person's own history at this time of day. EHR features come from the clinical record. Gradient-boosted trees handle missing values natively, which matters because not every dataset has every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mistake in glucose prediction is testing on the same people you trained on. We never do that: all numbers come from people held out of training, with thresholds tuned without seeing them, plus a fully external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results on 187 held-out people. The 95% confidence intervals are about ±0.4 to ±0.9 points. On the external Ohio dataset, never used in training, performance is essentially the same, which shows the model generalises.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always compare with the simplest possible rule. Short horizons are easy for both; the further ahead we look, the more the model adds. Ohio, the external test, tracks the cross-validation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2 patients, the main group in India, get the most accurate predictions. Accuracy is similar for women and men and across age and BMI groups, and predicted risk matches the observed rate within about one point in every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an experiment for every idea instead of assuming. Algorithm and tuning changes moved accuracy by about a tenth of a point, so the remaining gains have to come from new information that is known at prediction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re-derived from the held-out predictions by an automated verifier. About half of the remaining 2-hour errors sit right at the 180 line, where even the sensor and a fingerstick disagree by over 10 percent. The rest are mostly spikes that start later from normal glucose, often after a meal eaten after the prediction. That is why the next gains need new information, such as meal announcements, rather than a new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new information instead of new algorithms, with a test set locked away before any experiment. The new features improve ranking slightly but not accuracy in a measurable way. The bigger practical gain is the alert policy: warning only while glucose is still in range halves the number of alerts and warns of slightly more serious spikes, without more false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React app talking to the FastAPI backend. Every number on it comes from the API: the probability, the thresholds, the data completeness. Demo patients are real open-data recordings replayed moment by moment, and none of them was in the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what we will do live. If the API is unavailable, we show the recorded screenshots and the verified numbers instead,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sources, harmonisation, feature fusion, three models with validation, and serving through FastAPI to a React dashboard. Stack: Python, scikit-learn, FastAPI,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what the system cannot do. Accuracy, recall and calibration are different measures; none of them means clinical benefit, which has not been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not a medical device. The path to impact is clinical validation in India, integration with the national digital health stack, affordable sensors, and privacy-first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jury. Summarise: two-stream fusion, honest validation, working dashboard, and a clear path to clinical use in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291840"/>
            <a:ext cx="10698480" cy="128016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rPr>
              <a:t>GlucoTwin · Digital Twin Challenge 2026 · research prototype</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nchor="b"/>
          <a:lstStyle/>
          <a:p>
            <a:pPr indent="0" marL="0">
              <a:buNone/>
            </a:pPr>
            <a:r>
              <a:rPr lang="en-US" sz="4800" b="1" dirty="0">
                <a:solidFill>
                  <a:schemeClr val="bg1"/>
                </a:solidFill>
              </a:rPr>
              <a:t>GlucoTwin</a:t>
            </a:r>
            <a:endParaRPr lang="en-US" sz="4800" dirty="0"/>
          </a:p>
        </p:txBody>
      </p:sp>
      <p:sp>
        <p:nvSpPr>
          <p:cNvPr id="3" name="Text 0"/>
          <p:cNvSpPr/>
          <p:nvPr>
            <p:ph idx="101" type="body" hasCustomPrompt="1"/>
          </p:nvPr>
        </p:nvSpPr>
        <p:spPr>
          <a:xfrm>
            <a:off x="731520" y="3291840"/>
            <a:ext cx="10698480" cy="1280160"/>
          </a:xfrm>
          <a:prstGeom prst="rect">
            <a:avLst/>
          </a:prstGeom>
          <a:noFill/>
          <a:ln/>
        </p:spPr>
        <p:txBody>
          <a:bodyPr wrap="square" rtlCol="0" anchor="t"/>
          <a:lstStyle/>
          <a:p>
            <a:pPr indent="0" marL="0">
              <a:buNone/>
            </a:pPr>
            <a:r>
              <a:rPr lang="en-US" sz="2200" dirty="0">
                <a:solidFill>
                  <a:schemeClr val="bg2"/>
                </a:solidFill>
              </a:rPr>
              <a:t>A diabetes digital twin that predicts glucose spikes 30 minutes to 2 hours before they happen</a:t>
            </a:r>
            <a:endParaRPr lang="en-US" sz="2200" dirty="0"/>
          </a:p>
        </p:txBody>
      </p:sp>
      <p:sp>
        <p:nvSpPr>
          <p:cNvPr id="4" name="logo-circle"/>
          <p:cNvSpPr/>
          <p:nvPr/>
        </p:nvSpPr>
        <p:spPr>
          <a:xfrm>
            <a:off x="731520" y="731520"/>
            <a:ext cx="914400" cy="914400"/>
          </a:xfrm>
          <a:prstGeom prst="ellipse">
            <a:avLst/>
          </a:prstGeom>
          <a:solidFill>
            <a:schemeClr val="accent2"/>
          </a:solidFill>
          <a:ln w="12700">
            <a:solidFill>
              <a:schemeClr val="accent2"/>
            </a:solidFill>
            <a:prstDash val="solid"/>
          </a:ln>
        </p:spPr>
      </p:sp>
      <p:pic>
        <p:nvPicPr>
          <p:cNvPr id="5" name="logo-icon" descr="preencoded.png">    </p:cNvPr>
          <p:cNvPicPr>
            <a:picLocks noChangeAspect="1"/>
          </p:cNvPicPr>
          <p:nvPr/>
        </p:nvPicPr>
        <p:blipFill>
          <a:blip r:embed="rId1"/>
          <a:stretch>
            <a:fillRect/>
          </a:stretch>
        </p:blipFill>
        <p:spPr>
          <a:xfrm>
            <a:off x="950976" y="950976"/>
            <a:ext cx="475488" cy="475488"/>
          </a:xfrm>
          <a:prstGeom prst="rect">
            <a:avLst/>
          </a:prstGeom>
        </p:spPr>
      </p:pic>
      <p:sp>
        <p:nvSpPr>
          <p:cNvPr id="6" name="Text 3"/>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600" dirty="0">
                <a:solidFill>
                  <a:schemeClr val="bg2"/>
                </a:solidFill>
              </a:rPr>
              <a:t>Digital Twin Challenge 2026  ·  Team hackers_  ·  IIT (ISM) Dhanbad  ·  Team leader: Korra Santhosh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Diabetes care in India is still reactive</a:t>
            </a:r>
            <a:endParaRPr lang="en-US" sz="3000" dirty="0"/>
          </a:p>
        </p:txBody>
      </p:sp>
      <p:sp>
        <p:nvSpPr>
          <p:cNvPr id="3" name="stat1"/>
          <p:cNvSpPr/>
          <p:nvPr/>
        </p:nvSpPr>
        <p:spPr>
          <a:xfrm>
            <a:off x="548640" y="1371600"/>
            <a:ext cx="3566160" cy="2194560"/>
          </a:xfrm>
          <a:prstGeom prst="roundRect">
            <a:avLst>
              <a:gd name="adj" fmla="val 5000"/>
            </a:avLst>
          </a:prstGeom>
          <a:solidFill>
            <a:schemeClr val="tx2"/>
          </a:solidFill>
          <a:ln w="12700">
            <a:solidFill>
              <a:schemeClr val="tx2"/>
            </a:solidFill>
            <a:prstDash val="solid"/>
          </a:ln>
        </p:spPr>
      </p:sp>
      <p:sp>
        <p:nvSpPr>
          <p:cNvPr id="4" name="Text 2"/>
          <p:cNvSpPr txBox="1"/>
          <p:nvPr/>
        </p:nvSpPr>
        <p:spPr>
          <a:xfrm>
            <a:off x="822960" y="1600200"/>
            <a:ext cx="3017520" cy="10058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101 M</a:t>
            </a:r>
            <a:endParaRPr lang="en-US" sz="6000" dirty="0"/>
          </a:p>
        </p:txBody>
      </p:sp>
      <p:sp>
        <p:nvSpPr>
          <p:cNvPr id="5" name="Text 3"/>
          <p:cNvSpPr txBox="1"/>
          <p:nvPr/>
        </p:nvSpPr>
        <p:spPr>
          <a:xfrm>
            <a:off x="822960" y="2697480"/>
            <a:ext cx="3017520" cy="640080"/>
          </a:xfrm>
          <a:prstGeom prst="rect">
            <a:avLst/>
          </a:prstGeom>
          <a:noFill/>
          <a:ln/>
        </p:spPr>
        <p:txBody>
          <a:bodyPr wrap="square" lIns="0" tIns="0" rIns="0" bIns="0" rtlCol="0" anchor="t"/>
          <a:lstStyle/>
          <a:p>
            <a:pPr indent="0" marL="0">
              <a:buNone/>
            </a:pPr>
            <a:r>
              <a:rPr lang="en-US" sz="1600" dirty="0">
                <a:solidFill>
                  <a:schemeClr val="bg2"/>
                </a:solidFill>
              </a:rPr>
              <a:t>Indians living with diabetes</a:t>
            </a:r>
            <a:endParaRPr lang="en-US" sz="1600" dirty="0"/>
          </a:p>
        </p:txBody>
      </p:sp>
      <p:sp>
        <p:nvSpPr>
          <p:cNvPr id="6" name="stat2"/>
          <p:cNvSpPr/>
          <p:nvPr/>
        </p:nvSpPr>
        <p:spPr>
          <a:xfrm>
            <a:off x="548640" y="3749040"/>
            <a:ext cx="3566160" cy="2194560"/>
          </a:xfrm>
          <a:prstGeom prst="roundRect">
            <a:avLst>
              <a:gd name="adj" fmla="val 5000"/>
            </a:avLst>
          </a:prstGeom>
          <a:solidFill>
            <a:schemeClr val="accent1"/>
          </a:solidFill>
          <a:ln w="12700">
            <a:solidFill>
              <a:schemeClr val="accent1"/>
            </a:solidFill>
            <a:prstDash val="solid"/>
          </a:ln>
        </p:spPr>
      </p:sp>
      <p:sp>
        <p:nvSpPr>
          <p:cNvPr id="7" name="Text 5"/>
          <p:cNvSpPr txBox="1"/>
          <p:nvPr/>
        </p:nvSpPr>
        <p:spPr>
          <a:xfrm>
            <a:off x="822960" y="3977640"/>
            <a:ext cx="3017520" cy="10058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136 M</a:t>
            </a:r>
            <a:endParaRPr lang="en-US" sz="6000" dirty="0"/>
          </a:p>
        </p:txBody>
      </p:sp>
      <p:sp>
        <p:nvSpPr>
          <p:cNvPr id="8" name="Text 6"/>
          <p:cNvSpPr txBox="1"/>
          <p:nvPr/>
        </p:nvSpPr>
        <p:spPr>
          <a:xfrm>
            <a:off x="822960" y="5074920"/>
            <a:ext cx="3017520" cy="640080"/>
          </a:xfrm>
          <a:prstGeom prst="rect">
            <a:avLst/>
          </a:prstGeom>
          <a:noFill/>
          <a:ln/>
        </p:spPr>
        <p:txBody>
          <a:bodyPr wrap="square" lIns="0" tIns="0" rIns="0" bIns="0" rtlCol="0" anchor="t"/>
          <a:lstStyle/>
          <a:p>
            <a:pPr indent="0" marL="0">
              <a:buNone/>
            </a:pPr>
            <a:r>
              <a:rPr lang="en-US" sz="1600" dirty="0">
                <a:solidFill>
                  <a:schemeClr val="bg1"/>
                </a:solidFill>
              </a:rPr>
              <a:t>more with prediabetes (ICMR-INDIAB, 2023)</a:t>
            </a:r>
            <a:endParaRPr lang="en-US" sz="1600" dirty="0"/>
          </a:p>
        </p:txBody>
      </p:sp>
      <p:sp>
        <p:nvSpPr>
          <p:cNvPr id="9" name="Text 7"/>
          <p:cNvSpPr txBox="1"/>
          <p:nvPr/>
        </p:nvSpPr>
        <p:spPr>
          <a:xfrm>
            <a:off x="4572000" y="1463040"/>
            <a:ext cx="6949440" cy="21945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Repeated high glucose (&gt; 180 mg/dL) drives eye, kidney, nerve and heart damage.</a:t>
            </a:r>
            <a:endParaRPr lang="en-US" sz="1800" dirty="0"/>
          </a:p>
          <a:p>
            <a:pPr marL="342900" indent="-342900">
              <a:spcAft>
                <a:spcPts val="1000"/>
              </a:spcAft>
              <a:buSzPct val="100000"/>
              <a:buChar char="•"/>
            </a:pPr>
            <a:r>
              <a:rPr lang="en-US" sz="1800" dirty="0">
                <a:solidFill>
                  <a:schemeClr val="tx1"/>
                </a:solidFill>
              </a:rPr>
              <a:t>A continuous glucose monitor alarms only after glucose is already high.</a:t>
            </a:r>
            <a:endParaRPr lang="en-US" sz="1800" dirty="0"/>
          </a:p>
          <a:p>
            <a:pPr marL="342900" indent="-342900">
              <a:spcAft>
                <a:spcPts val="1000"/>
              </a:spcAft>
              <a:buSzPct val="100000"/>
              <a:buChar char="•"/>
            </a:pPr>
            <a:r>
              <a:rPr lang="en-US" sz="1800" dirty="0">
                <a:solidFill>
                  <a:schemeClr val="tx1"/>
                </a:solidFill>
              </a:rPr>
              <a:t>Doctors see past readings, not where this patient is heading next.</a:t>
            </a:r>
            <a:endParaRPr lang="en-US" sz="1800" dirty="0"/>
          </a:p>
        </p:txBody>
      </p:sp>
      <p:sp>
        <p:nvSpPr>
          <p:cNvPr id="10" name="question"/>
          <p:cNvSpPr/>
          <p:nvPr/>
        </p:nvSpPr>
        <p:spPr>
          <a:xfrm>
            <a:off x="4572000" y="4023360"/>
            <a:ext cx="6949440" cy="1828800"/>
          </a:xfrm>
          <a:prstGeom prst="roundRect">
            <a:avLst>
              <a:gd name="adj" fmla="val 6000"/>
            </a:avLst>
          </a:prstGeom>
          <a:solidFill>
            <a:schemeClr val="bg2"/>
          </a:solidFill>
          <a:ln w="12700">
            <a:solidFill>
              <a:schemeClr val="bg2"/>
            </a:solidFill>
            <a:prstDash val="solid"/>
          </a:ln>
        </p:spPr>
      </p:sp>
      <p:sp>
        <p:nvSpPr>
          <p:cNvPr id="11" name="q-circle"/>
          <p:cNvSpPr/>
          <p:nvPr/>
        </p:nvSpPr>
        <p:spPr>
          <a:xfrm>
            <a:off x="4846320" y="4434840"/>
            <a:ext cx="914400" cy="914400"/>
          </a:xfrm>
          <a:prstGeom prst="ellipse">
            <a:avLst/>
          </a:prstGeom>
          <a:solidFill>
            <a:schemeClr val="accent2"/>
          </a:solidFill>
          <a:ln w="12700">
            <a:solidFill>
              <a:schemeClr val="accent2"/>
            </a:solidFill>
            <a:prstDash val="solid"/>
          </a:ln>
        </p:spPr>
      </p:sp>
      <p:pic>
        <p:nvPicPr>
          <p:cNvPr id="12" name="q-icon" descr="preencoded.png">    </p:cNvPr>
          <p:cNvPicPr>
            <a:picLocks noChangeAspect="1"/>
          </p:cNvPicPr>
          <p:nvPr/>
        </p:nvPicPr>
        <p:blipFill>
          <a:blip r:embed="rId1"/>
          <a:stretch>
            <a:fillRect/>
          </a:stretch>
        </p:blipFill>
        <p:spPr>
          <a:xfrm>
            <a:off x="5065776" y="4654296"/>
            <a:ext cx="475488" cy="475488"/>
          </a:xfrm>
          <a:prstGeom prst="rect">
            <a:avLst/>
          </a:prstGeom>
        </p:spPr>
      </p:pic>
      <p:sp>
        <p:nvSpPr>
          <p:cNvPr id="13" name="Text 10"/>
          <p:cNvSpPr txBox="1"/>
          <p:nvPr/>
        </p:nvSpPr>
        <p:spPr>
          <a:xfrm>
            <a:off x="6035040" y="4251960"/>
            <a:ext cx="5303520" cy="365760"/>
          </a:xfrm>
          <a:prstGeom prst="rect">
            <a:avLst/>
          </a:prstGeom>
          <a:noFill/>
          <a:ln/>
        </p:spPr>
        <p:txBody>
          <a:bodyPr wrap="square" lIns="0" tIns="0" rIns="0" bIns="0" rtlCol="0" anchor="t"/>
          <a:lstStyle/>
          <a:p>
            <a:pPr indent="0" marL="0">
              <a:buNone/>
            </a:pPr>
            <a:r>
              <a:rPr lang="en-US" sz="1400" dirty="0">
                <a:solidFill>
                  <a:schemeClr val="accent6"/>
                </a:solidFill>
              </a:rPr>
              <a:t>Our question, asked every 15 minutes for every patient:</a:t>
            </a:r>
            <a:endParaRPr lang="en-US" sz="1400" dirty="0"/>
          </a:p>
        </p:txBody>
      </p:sp>
      <p:sp>
        <p:nvSpPr>
          <p:cNvPr id="14" name="Text 11"/>
          <p:cNvSpPr txBox="1"/>
          <p:nvPr/>
        </p:nvSpPr>
        <p:spPr>
          <a:xfrm>
            <a:off x="6035040" y="4663440"/>
            <a:ext cx="5303520" cy="1005840"/>
          </a:xfrm>
          <a:prstGeom prst="rect">
            <a:avLst/>
          </a:prstGeom>
          <a:noFill/>
          <a:ln/>
        </p:spPr>
        <p:txBody>
          <a:bodyPr wrap="square" lIns="0" tIns="0" rIns="0" bIns="0" rtlCol="0" anchor="t"/>
          <a:lstStyle/>
          <a:p>
            <a:pPr indent="0" marL="0">
              <a:buNone/>
            </a:pPr>
            <a:r>
              <a:rPr lang="en-US" sz="2000" b="1" dirty="0">
                <a:solidFill>
                  <a:schemeClr val="tx2"/>
                </a:solidFill>
              </a:rPr>
              <a:t>Will glucose go above 180 mg/dL in the next 30 minutes, 1 hour or 2 hours?</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Our digital twin fuses two data streams and looks ahead</a:t>
            </a:r>
            <a:endParaRPr lang="en-US" sz="3000" dirty="0"/>
          </a:p>
        </p:txBody>
      </p:sp>
      <p:sp>
        <p:nvSpPr>
          <p:cNvPr id="3" name="step0"/>
          <p:cNvSpPr/>
          <p:nvPr/>
        </p:nvSpPr>
        <p:spPr>
          <a:xfrm>
            <a:off x="548640" y="1737360"/>
            <a:ext cx="2606040" cy="3566160"/>
          </a:xfrm>
          <a:prstGeom prst="roundRect">
            <a:avLst>
              <a:gd name="adj" fmla="val 4211"/>
            </a:avLst>
          </a:prstGeom>
          <a:solidFill>
            <a:schemeClr val="bg2"/>
          </a:solidFill>
          <a:ln w="12700">
            <a:solidFill>
              <a:schemeClr val="bg2"/>
            </a:solidFill>
            <a:prstDash val="solid"/>
          </a:ln>
        </p:spPr>
      </p:sp>
      <p:sp>
        <p:nvSpPr>
          <p:cNvPr id="4" name="step0-circle"/>
          <p:cNvSpPr/>
          <p:nvPr/>
        </p:nvSpPr>
        <p:spPr>
          <a:xfrm>
            <a:off x="1389888" y="2011680"/>
            <a:ext cx="914400" cy="914400"/>
          </a:xfrm>
          <a:prstGeom prst="ellipse">
            <a:avLst/>
          </a:prstGeom>
          <a:solidFill>
            <a:schemeClr val="accent5"/>
          </a:solidFill>
          <a:ln w="12700">
            <a:solidFill>
              <a:schemeClr val="accent5"/>
            </a:solidFill>
            <a:prstDash val="solid"/>
          </a:ln>
        </p:spPr>
      </p:sp>
      <p:pic>
        <p:nvPicPr>
          <p:cNvPr id="5" name="step0-icon" descr="preencoded.png">    </p:cNvPr>
          <p:cNvPicPr>
            <a:picLocks noChangeAspect="1"/>
          </p:cNvPicPr>
          <p:nvPr/>
        </p:nvPicPr>
        <p:blipFill>
          <a:blip r:embed="rId1"/>
          <a:stretch>
            <a:fillRect/>
          </a:stretch>
        </p:blipFill>
        <p:spPr>
          <a:xfrm>
            <a:off x="1609344" y="2231136"/>
            <a:ext cx="475488" cy="475488"/>
          </a:xfrm>
          <a:prstGeom prst="rect">
            <a:avLst/>
          </a:prstGeom>
        </p:spPr>
      </p:pic>
      <p:sp>
        <p:nvSpPr>
          <p:cNvPr id="6" name="Text 3"/>
          <p:cNvSpPr txBox="1"/>
          <p:nvPr/>
        </p:nvSpPr>
        <p:spPr>
          <a:xfrm>
            <a:off x="731520" y="3108960"/>
            <a:ext cx="2240280" cy="548640"/>
          </a:xfrm>
          <a:prstGeom prst="rect">
            <a:avLst/>
          </a:prstGeom>
          <a:noFill/>
          <a:ln/>
        </p:spPr>
        <p:txBody>
          <a:bodyPr wrap="square" lIns="0" tIns="0" rIns="0" bIns="0" rtlCol="0" anchor="t"/>
          <a:lstStyle/>
          <a:p>
            <a:pPr algn="ctr" indent="0" marL="0">
              <a:buNone/>
            </a:pPr>
            <a:r>
              <a:rPr lang="en-US" sz="1900" b="1" dirty="0">
                <a:solidFill>
                  <a:schemeClr val="tx2"/>
                </a:solidFill>
              </a:rPr>
              <a:t>Static stream: EHR</a:t>
            </a:r>
            <a:endParaRPr lang="en-US" sz="1900" dirty="0"/>
          </a:p>
        </p:txBody>
      </p:sp>
      <p:sp>
        <p:nvSpPr>
          <p:cNvPr id="7" name="Text 4"/>
          <p:cNvSpPr txBox="1"/>
          <p:nvPr/>
        </p:nvSpPr>
        <p:spPr>
          <a:xfrm>
            <a:off x="731520" y="3703320"/>
            <a:ext cx="2240280" cy="1463040"/>
          </a:xfrm>
          <a:prstGeom prst="rect">
            <a:avLst/>
          </a:prstGeom>
          <a:noFill/>
          <a:ln/>
        </p:spPr>
        <p:txBody>
          <a:bodyPr wrap="square" lIns="0" tIns="0" rIns="0" bIns="0" rtlCol="0" anchor="t"/>
          <a:lstStyle/>
          <a:p>
            <a:pPr algn="ctr" indent="0" marL="0">
              <a:buNone/>
            </a:pPr>
            <a:r>
              <a:rPr lang="en-US" sz="1500" dirty="0">
                <a:solidFill>
                  <a:schemeClr val="tx1"/>
                </a:solidFill>
              </a:rPr>
              <a:t>Age, BMI, diabetes type and duration, complications, medicines, HbA1c and other labs</a:t>
            </a:r>
            <a:endParaRPr lang="en-US" sz="1500" dirty="0"/>
          </a:p>
        </p:txBody>
      </p:sp>
      <p:sp>
        <p:nvSpPr>
          <p:cNvPr id="8" name="arrow0"/>
          <p:cNvSpPr/>
          <p:nvPr/>
        </p:nvSpPr>
        <p:spPr>
          <a:xfrm>
            <a:off x="3191256" y="3383280"/>
            <a:ext cx="201168" cy="274320"/>
          </a:xfrm>
          <a:prstGeom prst="rightArrow">
            <a:avLst/>
          </a:prstGeom>
          <a:solidFill>
            <a:schemeClr val="accent6"/>
          </a:solidFill>
          <a:ln w="12700">
            <a:solidFill>
              <a:schemeClr val="accent6"/>
            </a:solidFill>
            <a:prstDash val="solid"/>
          </a:ln>
        </p:spPr>
      </p:sp>
      <p:sp>
        <p:nvSpPr>
          <p:cNvPr id="9" name="step1"/>
          <p:cNvSpPr/>
          <p:nvPr/>
        </p:nvSpPr>
        <p:spPr>
          <a:xfrm>
            <a:off x="3429000" y="1737360"/>
            <a:ext cx="2606040" cy="3566160"/>
          </a:xfrm>
          <a:prstGeom prst="roundRect">
            <a:avLst>
              <a:gd name="adj" fmla="val 4211"/>
            </a:avLst>
          </a:prstGeom>
          <a:solidFill>
            <a:schemeClr val="bg2"/>
          </a:solidFill>
          <a:ln w="12700">
            <a:solidFill>
              <a:schemeClr val="bg2"/>
            </a:solidFill>
            <a:prstDash val="solid"/>
          </a:ln>
        </p:spPr>
      </p:sp>
      <p:sp>
        <p:nvSpPr>
          <p:cNvPr id="10" name="step1-circle"/>
          <p:cNvSpPr/>
          <p:nvPr/>
        </p:nvSpPr>
        <p:spPr>
          <a:xfrm>
            <a:off x="4270248" y="2011680"/>
            <a:ext cx="914400" cy="914400"/>
          </a:xfrm>
          <a:prstGeom prst="ellipse">
            <a:avLst/>
          </a:prstGeom>
          <a:solidFill>
            <a:schemeClr val="accent1"/>
          </a:solidFill>
          <a:ln w="12700">
            <a:solidFill>
              <a:schemeClr val="accent1"/>
            </a:solidFill>
            <a:prstDash val="solid"/>
          </a:ln>
        </p:spPr>
      </p:sp>
      <p:pic>
        <p:nvPicPr>
          <p:cNvPr id="11" name="step1-icon" descr="preencoded.png">    </p:cNvPr>
          <p:cNvPicPr>
            <a:picLocks noChangeAspect="1"/>
          </p:cNvPicPr>
          <p:nvPr/>
        </p:nvPicPr>
        <p:blipFill>
          <a:blip r:embed="rId2"/>
          <a:stretch>
            <a:fillRect/>
          </a:stretch>
        </p:blipFill>
        <p:spPr>
          <a:xfrm>
            <a:off x="4489704" y="2231136"/>
            <a:ext cx="475488" cy="475488"/>
          </a:xfrm>
          <a:prstGeom prst="rect">
            <a:avLst/>
          </a:prstGeom>
        </p:spPr>
      </p:pic>
      <p:sp>
        <p:nvSpPr>
          <p:cNvPr id="12" name="Text 8"/>
          <p:cNvSpPr txBox="1"/>
          <p:nvPr/>
        </p:nvSpPr>
        <p:spPr>
          <a:xfrm>
            <a:off x="3611880" y="3108960"/>
            <a:ext cx="2240280" cy="548640"/>
          </a:xfrm>
          <a:prstGeom prst="rect">
            <a:avLst/>
          </a:prstGeom>
          <a:noFill/>
          <a:ln/>
        </p:spPr>
        <p:txBody>
          <a:bodyPr wrap="square" lIns="0" tIns="0" rIns="0" bIns="0" rtlCol="0" anchor="t"/>
          <a:lstStyle/>
          <a:p>
            <a:pPr algn="ctr" indent="0" marL="0">
              <a:buNone/>
            </a:pPr>
            <a:r>
              <a:rPr lang="en-US" sz="1900" b="1" dirty="0">
                <a:solidFill>
                  <a:schemeClr val="tx2"/>
                </a:solidFill>
              </a:rPr>
              <a:t>Dynamic stream</a:t>
            </a:r>
            <a:endParaRPr lang="en-US" sz="1900" dirty="0"/>
          </a:p>
        </p:txBody>
      </p:sp>
      <p:sp>
        <p:nvSpPr>
          <p:cNvPr id="13" name="Text 9"/>
          <p:cNvSpPr txBox="1"/>
          <p:nvPr/>
        </p:nvSpPr>
        <p:spPr>
          <a:xfrm>
            <a:off x="3611880" y="3703320"/>
            <a:ext cx="2240280" cy="1463040"/>
          </a:xfrm>
          <a:prstGeom prst="rect">
            <a:avLst/>
          </a:prstGeom>
          <a:noFill/>
          <a:ln/>
        </p:spPr>
        <p:txBody>
          <a:bodyPr wrap="square" lIns="0" tIns="0" rIns="0" bIns="0" rtlCol="0" anchor="t"/>
          <a:lstStyle/>
          <a:p>
            <a:pPr algn="ctr" indent="0" marL="0">
              <a:buNone/>
            </a:pPr>
            <a:r>
              <a:rPr lang="en-US" sz="1500" dirty="0">
                <a:solidFill>
                  <a:schemeClr val="tx1"/>
                </a:solidFill>
              </a:rPr>
              <a:t>CGM glucose, insulin, meals, heart rate, steps — every 5 to 15 minutes</a:t>
            </a:r>
            <a:endParaRPr lang="en-US" sz="1500" dirty="0"/>
          </a:p>
        </p:txBody>
      </p:sp>
      <p:sp>
        <p:nvSpPr>
          <p:cNvPr id="14" name="arrow1"/>
          <p:cNvSpPr/>
          <p:nvPr/>
        </p:nvSpPr>
        <p:spPr>
          <a:xfrm>
            <a:off x="6071616" y="3383280"/>
            <a:ext cx="201168" cy="274320"/>
          </a:xfrm>
          <a:prstGeom prst="rightArrow">
            <a:avLst/>
          </a:prstGeom>
          <a:solidFill>
            <a:schemeClr val="accent6"/>
          </a:solidFill>
          <a:ln w="12700">
            <a:solidFill>
              <a:schemeClr val="accent6"/>
            </a:solidFill>
            <a:prstDash val="solid"/>
          </a:ln>
        </p:spPr>
      </p:sp>
      <p:sp>
        <p:nvSpPr>
          <p:cNvPr id="15" name="step2"/>
          <p:cNvSpPr/>
          <p:nvPr/>
        </p:nvSpPr>
        <p:spPr>
          <a:xfrm>
            <a:off x="6309360" y="1737360"/>
            <a:ext cx="2606040" cy="3566160"/>
          </a:xfrm>
          <a:prstGeom prst="roundRect">
            <a:avLst>
              <a:gd name="adj" fmla="val 4211"/>
            </a:avLst>
          </a:prstGeom>
          <a:solidFill>
            <a:schemeClr val="bg2"/>
          </a:solidFill>
          <a:ln w="12700">
            <a:solidFill>
              <a:schemeClr val="bg2"/>
            </a:solidFill>
            <a:prstDash val="solid"/>
          </a:ln>
        </p:spPr>
      </p:sp>
      <p:sp>
        <p:nvSpPr>
          <p:cNvPr id="16" name="step2-circle"/>
          <p:cNvSpPr/>
          <p:nvPr/>
        </p:nvSpPr>
        <p:spPr>
          <a:xfrm>
            <a:off x="7150608" y="2011680"/>
            <a:ext cx="914400" cy="914400"/>
          </a:xfrm>
          <a:prstGeom prst="ellipse">
            <a:avLst/>
          </a:prstGeom>
          <a:solidFill>
            <a:schemeClr val="tx2"/>
          </a:solidFill>
          <a:ln w="12700">
            <a:solidFill>
              <a:schemeClr val="tx2"/>
            </a:solidFill>
            <a:prstDash val="solid"/>
          </a:ln>
        </p:spPr>
      </p:sp>
      <p:pic>
        <p:nvPicPr>
          <p:cNvPr id="17" name="step2-icon" descr="preencoded.png">    </p:cNvPr>
          <p:cNvPicPr>
            <a:picLocks noChangeAspect="1"/>
          </p:cNvPicPr>
          <p:nvPr/>
        </p:nvPicPr>
        <p:blipFill>
          <a:blip r:embed="rId3"/>
          <a:stretch>
            <a:fillRect/>
          </a:stretch>
        </p:blipFill>
        <p:spPr>
          <a:xfrm>
            <a:off x="7370064" y="2231136"/>
            <a:ext cx="475488" cy="475488"/>
          </a:xfrm>
          <a:prstGeom prst="rect">
            <a:avLst/>
          </a:prstGeom>
        </p:spPr>
      </p:pic>
      <p:sp>
        <p:nvSpPr>
          <p:cNvPr id="18" name="Text 13"/>
          <p:cNvSpPr txBox="1"/>
          <p:nvPr/>
        </p:nvSpPr>
        <p:spPr>
          <a:xfrm>
            <a:off x="6492240" y="3108960"/>
            <a:ext cx="2240280" cy="548640"/>
          </a:xfrm>
          <a:prstGeom prst="rect">
            <a:avLst/>
          </a:prstGeom>
          <a:noFill/>
          <a:ln/>
        </p:spPr>
        <p:txBody>
          <a:bodyPr wrap="square" lIns="0" tIns="0" rIns="0" bIns="0" rtlCol="0" anchor="t"/>
          <a:lstStyle/>
          <a:p>
            <a:pPr algn="ctr" indent="0" marL="0">
              <a:buNone/>
            </a:pPr>
            <a:r>
              <a:rPr lang="en-US" sz="1900" b="1" dirty="0">
                <a:solidFill>
                  <a:schemeClr val="tx2"/>
                </a:solidFill>
              </a:rPr>
              <a:t>The twin</a:t>
            </a:r>
            <a:endParaRPr lang="en-US" sz="1900" dirty="0"/>
          </a:p>
        </p:txBody>
      </p:sp>
      <p:sp>
        <p:nvSpPr>
          <p:cNvPr id="19" name="Text 14"/>
          <p:cNvSpPr txBox="1"/>
          <p:nvPr/>
        </p:nvSpPr>
        <p:spPr>
          <a:xfrm>
            <a:off x="6492240" y="3703320"/>
            <a:ext cx="2240280" cy="1463040"/>
          </a:xfrm>
          <a:prstGeom prst="rect">
            <a:avLst/>
          </a:prstGeom>
          <a:noFill/>
          <a:ln/>
        </p:spPr>
        <p:txBody>
          <a:bodyPr wrap="square" lIns="0" tIns="0" rIns="0" bIns="0" rtlCol="0" anchor="t"/>
          <a:lstStyle/>
          <a:p>
            <a:pPr algn="ctr" indent="0" marL="0">
              <a:buNone/>
            </a:pPr>
            <a:r>
              <a:rPr lang="en-US" sz="1500" dirty="0">
                <a:solidFill>
                  <a:schemeClr val="tx1"/>
                </a:solidFill>
              </a:rPr>
              <a:t>111 fused features → three models (30 min, 1 h, 2 h), each with accuracy and safety alert modes</a:t>
            </a:r>
            <a:endParaRPr lang="en-US" sz="1500" dirty="0"/>
          </a:p>
        </p:txBody>
      </p:sp>
      <p:sp>
        <p:nvSpPr>
          <p:cNvPr id="20" name="arrow2"/>
          <p:cNvSpPr/>
          <p:nvPr/>
        </p:nvSpPr>
        <p:spPr>
          <a:xfrm>
            <a:off x="8951976" y="3383280"/>
            <a:ext cx="201168" cy="274320"/>
          </a:xfrm>
          <a:prstGeom prst="rightArrow">
            <a:avLst/>
          </a:prstGeom>
          <a:solidFill>
            <a:schemeClr val="accent6"/>
          </a:solidFill>
          <a:ln w="12700">
            <a:solidFill>
              <a:schemeClr val="accent6"/>
            </a:solidFill>
            <a:prstDash val="solid"/>
          </a:ln>
        </p:spPr>
      </p:sp>
      <p:sp>
        <p:nvSpPr>
          <p:cNvPr id="21" name="step3"/>
          <p:cNvSpPr/>
          <p:nvPr/>
        </p:nvSpPr>
        <p:spPr>
          <a:xfrm>
            <a:off x="9189720" y="1737360"/>
            <a:ext cx="2606040" cy="3566160"/>
          </a:xfrm>
          <a:prstGeom prst="roundRect">
            <a:avLst>
              <a:gd name="adj" fmla="val 4211"/>
            </a:avLst>
          </a:prstGeom>
          <a:solidFill>
            <a:schemeClr val="bg2"/>
          </a:solidFill>
          <a:ln w="12700">
            <a:solidFill>
              <a:schemeClr val="bg2"/>
            </a:solidFill>
            <a:prstDash val="solid"/>
          </a:ln>
        </p:spPr>
      </p:sp>
      <p:sp>
        <p:nvSpPr>
          <p:cNvPr id="22" name="step3-circle"/>
          <p:cNvSpPr/>
          <p:nvPr/>
        </p:nvSpPr>
        <p:spPr>
          <a:xfrm>
            <a:off x="10030968" y="2011680"/>
            <a:ext cx="914400" cy="914400"/>
          </a:xfrm>
          <a:prstGeom prst="ellipse">
            <a:avLst/>
          </a:prstGeom>
          <a:solidFill>
            <a:schemeClr val="accent2"/>
          </a:solidFill>
          <a:ln w="12700">
            <a:solidFill>
              <a:schemeClr val="accent2"/>
            </a:solidFill>
            <a:prstDash val="solid"/>
          </a:ln>
        </p:spPr>
      </p:sp>
      <p:pic>
        <p:nvPicPr>
          <p:cNvPr id="23" name="step3-icon" descr="preencoded.png">    </p:cNvPr>
          <p:cNvPicPr>
            <a:picLocks noChangeAspect="1"/>
          </p:cNvPicPr>
          <p:nvPr/>
        </p:nvPicPr>
        <p:blipFill>
          <a:blip r:embed="rId4"/>
          <a:stretch>
            <a:fillRect/>
          </a:stretch>
        </p:blipFill>
        <p:spPr>
          <a:xfrm>
            <a:off x="10250424" y="2231136"/>
            <a:ext cx="475488" cy="475488"/>
          </a:xfrm>
          <a:prstGeom prst="rect">
            <a:avLst/>
          </a:prstGeom>
        </p:spPr>
      </p:pic>
      <p:sp>
        <p:nvSpPr>
          <p:cNvPr id="24" name="Text 18"/>
          <p:cNvSpPr txBox="1"/>
          <p:nvPr/>
        </p:nvSpPr>
        <p:spPr>
          <a:xfrm>
            <a:off x="9372600" y="3108960"/>
            <a:ext cx="2240280" cy="548640"/>
          </a:xfrm>
          <a:prstGeom prst="rect">
            <a:avLst/>
          </a:prstGeom>
          <a:noFill/>
          <a:ln/>
        </p:spPr>
        <p:txBody>
          <a:bodyPr wrap="square" lIns="0" tIns="0" rIns="0" bIns="0" rtlCol="0" anchor="t"/>
          <a:lstStyle/>
          <a:p>
            <a:pPr algn="ctr" indent="0" marL="0">
              <a:buNone/>
            </a:pPr>
            <a:r>
              <a:rPr lang="en-US" sz="1900" b="1" dirty="0">
                <a:solidFill>
                  <a:schemeClr val="tx2"/>
                </a:solidFill>
              </a:rPr>
              <a:t>Doctor dashboard</a:t>
            </a:r>
            <a:endParaRPr lang="en-US" sz="1900" dirty="0"/>
          </a:p>
        </p:txBody>
      </p:sp>
      <p:sp>
        <p:nvSpPr>
          <p:cNvPr id="25" name="Text 19"/>
          <p:cNvSpPr txBox="1"/>
          <p:nvPr/>
        </p:nvSpPr>
        <p:spPr>
          <a:xfrm>
            <a:off x="9372600" y="3703320"/>
            <a:ext cx="2240280" cy="1463040"/>
          </a:xfrm>
          <a:prstGeom prst="rect">
            <a:avLst/>
          </a:prstGeom>
          <a:noFill/>
          <a:ln/>
        </p:spPr>
        <p:txBody>
          <a:bodyPr wrap="square" lIns="0" tIns="0" rIns="0" bIns="0" rtlCol="0" anchor="t"/>
          <a:lstStyle/>
          <a:p>
            <a:pPr algn="ctr" indent="0" marL="0">
              <a:buNone/>
            </a:pPr>
            <a:r>
              <a:rPr lang="en-US" sz="1500" dirty="0">
                <a:solidFill>
                  <a:schemeClr val="tx1"/>
                </a:solidFill>
              </a:rPr>
              <a:t>Live timeline, risk cards, patient record and a replay of what really happened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Built only on open, anonymised data: 187 people, Type 1 and Type 2</a:t>
            </a:r>
            <a:endParaRPr lang="en-US" sz="3000" dirty="0"/>
          </a:p>
        </p:txBody>
      </p:sp>
      <p:graphicFrame>
        <p:nvGraphicFramePr>
          <p:cNvPr id="5" name="datasets"/>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011680"/>
                <a:gridCol w="822960"/>
                <a:gridCol w="1005840"/>
                <a:gridCol w="3474720"/>
              </a:tblGrid>
              <a:tr h="438912">
                <a:tc>
                  <a:txBody>
                    <a:bodyPr/>
                    <a:lstStyle/>
                    <a:p>
                      <a:pPr indent="0" marL="0">
                        <a:buNone/>
                      </a:pPr>
                      <a:r>
                        <a:rPr lang="en-US" sz="1300" b="1" dirty="0">
                          <a:solidFill>
                            <a:schemeClr val="bg1"/>
                          </a:solidFill>
                        </a:rPr>
                        <a:t>Dataset</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People</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Diabetes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it adds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r>
              <a:tr h="438912">
                <a:tc>
                  <a:txBody>
                    <a:bodyPr/>
                    <a:lstStyle/>
                    <a:p>
                      <a:pPr indent="0" marL="0">
                        <a:buNone/>
                      </a:pPr>
                      <a:r>
                        <a:rPr lang="en-US" sz="1300" dirty="0">
                          <a:solidFill>
                            <a:schemeClr val="tx1"/>
                          </a:solidFill>
                        </a:rPr>
                        <a:t>ShanghaiT2DM</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100</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2</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Real clinical record (labs, drugs, history)</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38912">
                <a:tc>
                  <a:txBody>
                    <a:bodyPr/>
                    <a:lstStyle/>
                    <a:p>
                      <a:pPr indent="0" marL="0">
                        <a:buNone/>
                      </a:pPr>
                      <a:r>
                        <a:rPr lang="en-US" sz="1300" dirty="0">
                          <a:solidFill>
                            <a:schemeClr val="tx1"/>
                          </a:solidFill>
                        </a:rPr>
                        <a:t>ShanghaiT1DM</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12</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Real clinical record</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38912">
                <a:tc>
                  <a:txBody>
                    <a:bodyPr/>
                    <a:lstStyle/>
                    <a:p>
                      <a:pPr indent="0" marL="0">
                        <a:buNone/>
                      </a:pPr>
                      <a:r>
                        <a:rPr lang="en-US" sz="1300" dirty="0">
                          <a:solidFill>
                            <a:schemeClr val="tx1"/>
                          </a:solidFill>
                        </a:rPr>
                        <a:t>HUPA-UCM (Spain)</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24</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Fitbit heart rate, steps, calories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38912">
                <a:tc>
                  <a:txBody>
                    <a:bodyPr/>
                    <a:lstStyle/>
                    <a:p>
                      <a:pPr indent="0" marL="0">
                        <a:buNone/>
                      </a:pPr>
                      <a:r>
                        <a:rPr lang="en-US" sz="1300" dirty="0">
                          <a:solidFill>
                            <a:schemeClr val="tx1"/>
                          </a:solidFill>
                        </a:rPr>
                        <a:t>AZT1D (USA)</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25</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Insulin-pump data, carbohydrates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38912">
                <a:tc>
                  <a:txBody>
                    <a:bodyPr/>
                    <a:lstStyle/>
                    <a:p>
                      <a:pPr indent="0" marL="0">
                        <a:buNone/>
                      </a:pPr>
                      <a:r>
                        <a:rPr lang="en-US" sz="1300" dirty="0">
                          <a:solidFill>
                            <a:schemeClr val="tx1"/>
                          </a:solidFill>
                        </a:rPr>
                        <a:t>T1D-UOM (UK)</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17</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Insulin, meals, heart rate, steps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38912">
                <a:tc>
                  <a:txBody>
                    <a:bodyPr/>
                    <a:lstStyle/>
                    <a:p>
                      <a:pPr indent="0" marL="0">
                        <a:buNone/>
                      </a:pPr>
                      <a:r>
                        <a:rPr lang="en-US" sz="1300" dirty="0">
                          <a:solidFill>
                            <a:schemeClr val="tx1"/>
                          </a:solidFill>
                        </a:rPr>
                        <a:t>BrisT1D (UK)</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9</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Insulin, meals, smartwatch</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38912">
                <a:tc>
                  <a:txBody>
                    <a:bodyPr/>
                    <a:lstStyle/>
                    <a:p>
                      <a:pPr indent="0" marL="0">
                        <a:buNone/>
                      </a:pPr>
                      <a:r>
                        <a:rPr lang="en-US" sz="1300" dirty="0">
                          <a:solidFill>
                            <a:schemeClr val="tx1"/>
                          </a:solidFill>
                        </a:rPr>
                        <a:t>OhioT1DM (USA)</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12</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Type 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External test only — never trained on</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bl>
          </a:graphicData>
        </a:graphic>
      </p:graphicFrame>
      <p:sp>
        <p:nvSpPr>
          <p:cNvPr id="4" name="fact0"/>
          <p:cNvSpPr/>
          <p:nvPr/>
        </p:nvSpPr>
        <p:spPr>
          <a:xfrm>
            <a:off x="8229600" y="1371600"/>
            <a:ext cx="3383280" cy="1280160"/>
          </a:xfrm>
          <a:prstGeom prst="roundRect">
            <a:avLst>
              <a:gd name="adj" fmla="val 8571"/>
            </a:avLst>
          </a:prstGeom>
          <a:solidFill>
            <a:schemeClr val="bg2"/>
          </a:solidFill>
          <a:ln w="12700">
            <a:solidFill>
              <a:schemeClr val="bg2"/>
            </a:solidFill>
            <a:prstDash val="solid"/>
          </a:ln>
        </p:spPr>
      </p:sp>
      <p:sp>
        <p:nvSpPr>
          <p:cNvPr id="5" name="Text 2"/>
          <p:cNvSpPr txBox="1"/>
          <p:nvPr/>
        </p:nvSpPr>
        <p:spPr>
          <a:xfrm>
            <a:off x="8458200" y="1463040"/>
            <a:ext cx="301752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187</a:t>
            </a:r>
            <a:endParaRPr lang="en-US" sz="3200" dirty="0"/>
          </a:p>
        </p:txBody>
      </p:sp>
      <p:sp>
        <p:nvSpPr>
          <p:cNvPr id="6" name="Text 3"/>
          <p:cNvSpPr txBox="1"/>
          <p:nvPr/>
        </p:nvSpPr>
        <p:spPr>
          <a:xfrm>
            <a:off x="8458200" y="2103120"/>
            <a:ext cx="3017520" cy="457200"/>
          </a:xfrm>
          <a:prstGeom prst="rect">
            <a:avLst/>
          </a:prstGeom>
          <a:noFill/>
          <a:ln/>
        </p:spPr>
        <p:txBody>
          <a:bodyPr wrap="square" lIns="0" tIns="0" rIns="0" bIns="0" rtlCol="0" anchor="t"/>
          <a:lstStyle/>
          <a:p>
            <a:pPr indent="0" marL="0">
              <a:buNone/>
            </a:pPr>
            <a:r>
              <a:rPr lang="en-US" sz="1400" dirty="0">
                <a:solidFill>
                  <a:schemeClr val="tx1"/>
                </a:solidFill>
              </a:rPr>
              <a:t>people for training &amp; testing</a:t>
            </a:r>
            <a:endParaRPr lang="en-US" sz="1400" dirty="0"/>
          </a:p>
        </p:txBody>
      </p:sp>
      <p:sp>
        <p:nvSpPr>
          <p:cNvPr id="7" name="fact1"/>
          <p:cNvSpPr/>
          <p:nvPr/>
        </p:nvSpPr>
        <p:spPr>
          <a:xfrm>
            <a:off x="8229600" y="2834640"/>
            <a:ext cx="3383280" cy="1280160"/>
          </a:xfrm>
          <a:prstGeom prst="roundRect">
            <a:avLst>
              <a:gd name="adj" fmla="val 8571"/>
            </a:avLst>
          </a:prstGeom>
          <a:solidFill>
            <a:schemeClr val="bg2"/>
          </a:solidFill>
          <a:ln w="12700">
            <a:solidFill>
              <a:schemeClr val="bg2"/>
            </a:solidFill>
            <a:prstDash val="solid"/>
          </a:ln>
        </p:spPr>
      </p:sp>
      <p:sp>
        <p:nvSpPr>
          <p:cNvPr id="8" name="Text 5"/>
          <p:cNvSpPr txBox="1"/>
          <p:nvPr/>
        </p:nvSpPr>
        <p:spPr>
          <a:xfrm>
            <a:off x="8458200" y="2926080"/>
            <a:ext cx="301752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 530 k</a:t>
            </a:r>
            <a:endParaRPr lang="en-US" sz="3200" dirty="0"/>
          </a:p>
        </p:txBody>
      </p:sp>
      <p:sp>
        <p:nvSpPr>
          <p:cNvPr id="9" name="Text 6"/>
          <p:cNvSpPr txBox="1"/>
          <p:nvPr/>
        </p:nvSpPr>
        <p:spPr>
          <a:xfrm>
            <a:off x="8458200" y="3566160"/>
            <a:ext cx="3017520" cy="457200"/>
          </a:xfrm>
          <a:prstGeom prst="rect">
            <a:avLst/>
          </a:prstGeom>
          <a:noFill/>
          <a:ln/>
        </p:spPr>
        <p:txBody>
          <a:bodyPr wrap="square" lIns="0" tIns="0" rIns="0" bIns="0" rtlCol="0" anchor="t"/>
          <a:lstStyle/>
          <a:p>
            <a:pPr indent="0" marL="0">
              <a:buNone/>
            </a:pPr>
            <a:r>
              <a:rPr lang="en-US" sz="1400" dirty="0">
                <a:solidFill>
                  <a:schemeClr val="tx1"/>
                </a:solidFill>
              </a:rPr>
              <a:t>prediction moments per horizon</a:t>
            </a:r>
            <a:endParaRPr lang="en-US" sz="1400" dirty="0"/>
          </a:p>
        </p:txBody>
      </p:sp>
      <p:sp>
        <p:nvSpPr>
          <p:cNvPr id="10" name="fact2"/>
          <p:cNvSpPr/>
          <p:nvPr/>
        </p:nvSpPr>
        <p:spPr>
          <a:xfrm>
            <a:off x="8229600" y="4297680"/>
            <a:ext cx="3383280" cy="1280160"/>
          </a:xfrm>
          <a:prstGeom prst="roundRect">
            <a:avLst>
              <a:gd name="adj" fmla="val 8571"/>
            </a:avLst>
          </a:prstGeom>
          <a:solidFill>
            <a:schemeClr val="accent1"/>
          </a:solidFill>
          <a:ln w="12700">
            <a:solidFill>
              <a:schemeClr val="accent1"/>
            </a:solidFill>
            <a:prstDash val="solid"/>
          </a:ln>
        </p:spPr>
      </p:sp>
      <p:sp>
        <p:nvSpPr>
          <p:cNvPr id="11" name="Text 8"/>
          <p:cNvSpPr txBox="1"/>
          <p:nvPr/>
        </p:nvSpPr>
        <p:spPr>
          <a:xfrm>
            <a:off x="8458200" y="4389120"/>
            <a:ext cx="3017520" cy="64008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Open data</a:t>
            </a:r>
            <a:endParaRPr lang="en-US" sz="3200" dirty="0"/>
          </a:p>
        </p:txBody>
      </p:sp>
      <p:sp>
        <p:nvSpPr>
          <p:cNvPr id="12" name="Text 9"/>
          <p:cNvSpPr txBox="1"/>
          <p:nvPr/>
        </p:nvSpPr>
        <p:spPr>
          <a:xfrm>
            <a:off x="8458200" y="5029200"/>
            <a:ext cx="3017520" cy="457200"/>
          </a:xfrm>
          <a:prstGeom prst="rect">
            <a:avLst/>
          </a:prstGeom>
          <a:noFill/>
          <a:ln/>
        </p:spPr>
        <p:txBody>
          <a:bodyPr wrap="square" lIns="0" tIns="0" rIns="0" bIns="0" rtlCol="0" anchor="t"/>
          <a:lstStyle/>
          <a:p>
            <a:pPr indent="0" marL="0">
              <a:buNone/>
            </a:pPr>
            <a:r>
              <a:rPr lang="en-US" sz="1400" dirty="0">
                <a:solidFill>
                  <a:schemeClr val="bg1"/>
                </a:solidFill>
              </a:rPr>
              <a:t>CC BY 4.0 research datasets*</a:t>
            </a:r>
            <a:endParaRPr lang="en-US" sz="1400" dirty="0"/>
          </a:p>
        </p:txBody>
      </p:sp>
      <p:sp>
        <p:nvSpPr>
          <p:cNvPr id="13" name="Text 1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 BrisT1D is published under CC BY 4.0; we used its Kaggle competition copy, whose rules we have not separately verified.</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found and fixed six data problems before any modelling</a:t>
            </a:r>
            <a:endParaRPr lang="en-US" sz="3000" dirty="0"/>
          </a:p>
        </p:txBody>
      </p:sp>
      <p:sp>
        <p:nvSpPr>
          <p:cNvPr id="3" name="prob0"/>
          <p:cNvSpPr/>
          <p:nvPr/>
        </p:nvSpPr>
        <p:spPr>
          <a:xfrm>
            <a:off x="548640" y="1417320"/>
            <a:ext cx="3566160" cy="2194560"/>
          </a:xfrm>
          <a:prstGeom prst="roundRect">
            <a:avLst>
              <a:gd name="adj" fmla="val 5000"/>
            </a:avLst>
          </a:prstGeom>
          <a:solidFill>
            <a:schemeClr val="bg2"/>
          </a:solidFill>
          <a:ln w="12700">
            <a:solidFill>
              <a:schemeClr val="bg2"/>
            </a:solidFill>
            <a:prstDash val="solid"/>
          </a:ln>
        </p:spPr>
      </p:sp>
      <p:sp>
        <p:nvSpPr>
          <p:cNvPr id="4" name="prob0-circle"/>
          <p:cNvSpPr/>
          <p:nvPr/>
        </p:nvSpPr>
        <p:spPr>
          <a:xfrm>
            <a:off x="777240" y="1691640"/>
            <a:ext cx="731520" cy="731520"/>
          </a:xfrm>
          <a:prstGeom prst="ellipse">
            <a:avLst/>
          </a:prstGeom>
          <a:solidFill>
            <a:schemeClr val="accent2"/>
          </a:solidFill>
          <a:ln w="12700">
            <a:solidFill>
              <a:schemeClr val="accent2"/>
            </a:solidFill>
            <a:prstDash val="solid"/>
          </a:ln>
        </p:spPr>
      </p:sp>
      <p:pic>
        <p:nvPicPr>
          <p:cNvPr id="5" name="prob0-icon" descr="preencoded.png">    </p:cNvPr>
          <p:cNvPicPr>
            <a:picLocks noChangeAspect="1"/>
          </p:cNvPicPr>
          <p:nvPr/>
        </p:nvPicPr>
        <p:blipFill>
          <a:blip r:embed="rId1"/>
          <a:stretch>
            <a:fillRect/>
          </a:stretch>
        </p:blipFill>
        <p:spPr>
          <a:xfrm>
            <a:off x="952805" y="1867205"/>
            <a:ext cx="380390" cy="380390"/>
          </a:xfrm>
          <a:prstGeom prst="rect">
            <a:avLst/>
          </a:prstGeom>
        </p:spPr>
      </p:pic>
      <p:sp>
        <p:nvSpPr>
          <p:cNvPr id="6" name="Text 3"/>
          <p:cNvSpPr txBox="1"/>
          <p:nvPr/>
        </p:nvSpPr>
        <p:spPr>
          <a:xfrm>
            <a:off x="1645920" y="1783080"/>
            <a:ext cx="2331720" cy="548640"/>
          </a:xfrm>
          <a:prstGeom prst="rect">
            <a:avLst/>
          </a:prstGeom>
          <a:noFill/>
          <a:ln/>
        </p:spPr>
        <p:txBody>
          <a:bodyPr wrap="square" lIns="0" tIns="0" rIns="0" bIns="0" rtlCol="0" anchor="ctr"/>
          <a:lstStyle/>
          <a:p>
            <a:pPr indent="0" marL="0">
              <a:buNone/>
            </a:pPr>
            <a:r>
              <a:rPr lang="en-US" sz="1700" b="1" dirty="0">
                <a:solidFill>
                  <a:schemeClr val="tx2"/>
                </a:solidFill>
              </a:rPr>
              <a:t>Duplicated readings</a:t>
            </a:r>
            <a:endParaRPr lang="en-US" sz="1700" dirty="0"/>
          </a:p>
        </p:txBody>
      </p:sp>
      <p:sp>
        <p:nvSpPr>
          <p:cNvPr id="7" name="Text 4"/>
          <p:cNvSpPr txBox="1"/>
          <p:nvPr/>
        </p:nvSpPr>
        <p:spPr>
          <a:xfrm>
            <a:off x="777240" y="2560320"/>
            <a:ext cx="3154680" cy="960120"/>
          </a:xfrm>
          <a:prstGeom prst="rect">
            <a:avLst/>
          </a:prstGeom>
          <a:noFill/>
          <a:ln/>
        </p:spPr>
        <p:txBody>
          <a:bodyPr wrap="square" lIns="0" tIns="0" rIns="0" bIns="0" rtlCol="0" anchor="t"/>
          <a:lstStyle/>
          <a:p>
            <a:pPr indent="0" marL="0">
              <a:buNone/>
            </a:pPr>
            <a:r>
              <a:rPr lang="en-US" sz="1300" dirty="0">
                <a:solidFill>
                  <a:schemeClr val="tx1"/>
                </a:solidFill>
              </a:rPr>
              <a:t>BrisT1D stored each reading up to 72 times; stitched into one timeline (0 conflicts in 11.4 M values)</a:t>
            </a:r>
            <a:endParaRPr lang="en-US" sz="1300" dirty="0"/>
          </a:p>
        </p:txBody>
      </p:sp>
      <p:sp>
        <p:nvSpPr>
          <p:cNvPr id="8" name="prob1"/>
          <p:cNvSpPr/>
          <p:nvPr/>
        </p:nvSpPr>
        <p:spPr>
          <a:xfrm>
            <a:off x="4343400" y="1417320"/>
            <a:ext cx="3566160" cy="2194560"/>
          </a:xfrm>
          <a:prstGeom prst="roundRect">
            <a:avLst>
              <a:gd name="adj" fmla="val 5000"/>
            </a:avLst>
          </a:prstGeom>
          <a:solidFill>
            <a:schemeClr val="bg2"/>
          </a:solidFill>
          <a:ln w="12700">
            <a:solidFill>
              <a:schemeClr val="bg2"/>
            </a:solidFill>
            <a:prstDash val="solid"/>
          </a:ln>
        </p:spPr>
      </p:sp>
      <p:sp>
        <p:nvSpPr>
          <p:cNvPr id="9" name="prob1-circle"/>
          <p:cNvSpPr/>
          <p:nvPr/>
        </p:nvSpPr>
        <p:spPr>
          <a:xfrm>
            <a:off x="4572000" y="1691640"/>
            <a:ext cx="731520" cy="731520"/>
          </a:xfrm>
          <a:prstGeom prst="ellipse">
            <a:avLst/>
          </a:prstGeom>
          <a:solidFill>
            <a:schemeClr val="accent2"/>
          </a:solidFill>
          <a:ln w="12700">
            <a:solidFill>
              <a:schemeClr val="accent2"/>
            </a:solidFill>
            <a:prstDash val="solid"/>
          </a:ln>
        </p:spPr>
      </p:sp>
      <p:pic>
        <p:nvPicPr>
          <p:cNvPr id="10" name="prob1-icon" descr="preencoded.png">    </p:cNvPr>
          <p:cNvPicPr>
            <a:picLocks noChangeAspect="1"/>
          </p:cNvPicPr>
          <p:nvPr/>
        </p:nvPicPr>
        <p:blipFill>
          <a:blip r:embed="rId2"/>
          <a:stretch>
            <a:fillRect/>
          </a:stretch>
        </p:blipFill>
        <p:spPr>
          <a:xfrm>
            <a:off x="4747565" y="1867205"/>
            <a:ext cx="380390" cy="380390"/>
          </a:xfrm>
          <a:prstGeom prst="rect">
            <a:avLst/>
          </a:prstGeom>
        </p:spPr>
      </p:pic>
      <p:sp>
        <p:nvSpPr>
          <p:cNvPr id="11" name="Text 7"/>
          <p:cNvSpPr txBox="1"/>
          <p:nvPr/>
        </p:nvSpPr>
        <p:spPr>
          <a:xfrm>
            <a:off x="5440680" y="1783080"/>
            <a:ext cx="2331720" cy="548640"/>
          </a:xfrm>
          <a:prstGeom prst="rect">
            <a:avLst/>
          </a:prstGeom>
          <a:noFill/>
          <a:ln/>
        </p:spPr>
        <p:txBody>
          <a:bodyPr wrap="square" lIns="0" tIns="0" rIns="0" bIns="0" rtlCol="0" anchor="ctr"/>
          <a:lstStyle/>
          <a:p>
            <a:pPr indent="0" marL="0">
              <a:buNone/>
            </a:pPr>
            <a:r>
              <a:rPr lang="en-US" sz="1700" b="1" dirty="0">
                <a:solidFill>
                  <a:schemeClr val="tx2"/>
                </a:solidFill>
              </a:rPr>
              <a:t>Hidden future leak</a:t>
            </a:r>
            <a:endParaRPr lang="en-US" sz="1700" dirty="0"/>
          </a:p>
        </p:txBody>
      </p:sp>
      <p:sp>
        <p:nvSpPr>
          <p:cNvPr id="12" name="Text 8"/>
          <p:cNvSpPr txBox="1"/>
          <p:nvPr/>
        </p:nvSpPr>
        <p:spPr>
          <a:xfrm>
            <a:off x="4572000" y="2560320"/>
            <a:ext cx="3154680" cy="960120"/>
          </a:xfrm>
          <a:prstGeom prst="rect">
            <a:avLst/>
          </a:prstGeom>
          <a:noFill/>
          <a:ln/>
        </p:spPr>
        <p:txBody>
          <a:bodyPr wrap="square" lIns="0" tIns="0" rIns="0" bIns="0" rtlCol="0" anchor="t"/>
          <a:lstStyle/>
          <a:p>
            <a:pPr indent="0" marL="0">
              <a:buNone/>
            </a:pPr>
            <a:r>
              <a:rPr lang="en-US" sz="1300" dirty="0">
                <a:solidFill>
                  <a:schemeClr val="tx1"/>
                </a:solidFill>
              </a:rPr>
              <a:t>HUPA-UCM gaps were filled by straight lines toward the NEXT reading; removed</a:t>
            </a:r>
            <a:endParaRPr lang="en-US" sz="1300" dirty="0"/>
          </a:p>
        </p:txBody>
      </p:sp>
      <p:sp>
        <p:nvSpPr>
          <p:cNvPr id="13" name="prob2"/>
          <p:cNvSpPr/>
          <p:nvPr/>
        </p:nvSpPr>
        <p:spPr>
          <a:xfrm>
            <a:off x="8138160" y="1417320"/>
            <a:ext cx="3566160" cy="2194560"/>
          </a:xfrm>
          <a:prstGeom prst="roundRect">
            <a:avLst>
              <a:gd name="adj" fmla="val 5000"/>
            </a:avLst>
          </a:prstGeom>
          <a:solidFill>
            <a:schemeClr val="bg2"/>
          </a:solidFill>
          <a:ln w="12700">
            <a:solidFill>
              <a:schemeClr val="bg2"/>
            </a:solidFill>
            <a:prstDash val="solid"/>
          </a:ln>
        </p:spPr>
      </p:sp>
      <p:sp>
        <p:nvSpPr>
          <p:cNvPr id="14" name="prob2-circle"/>
          <p:cNvSpPr/>
          <p:nvPr/>
        </p:nvSpPr>
        <p:spPr>
          <a:xfrm>
            <a:off x="8366760" y="1691640"/>
            <a:ext cx="731520" cy="731520"/>
          </a:xfrm>
          <a:prstGeom prst="ellipse">
            <a:avLst/>
          </a:prstGeom>
          <a:solidFill>
            <a:schemeClr val="accent2"/>
          </a:solidFill>
          <a:ln w="12700">
            <a:solidFill>
              <a:schemeClr val="accent2"/>
            </a:solidFill>
            <a:prstDash val="solid"/>
          </a:ln>
        </p:spPr>
      </p:sp>
      <p:pic>
        <p:nvPicPr>
          <p:cNvPr id="15" name="prob2-icon" descr="preencoded.png">    </p:cNvPr>
          <p:cNvPicPr>
            <a:picLocks noChangeAspect="1"/>
          </p:cNvPicPr>
          <p:nvPr/>
        </p:nvPicPr>
        <p:blipFill>
          <a:blip r:embed="rId3"/>
          <a:stretch>
            <a:fillRect/>
          </a:stretch>
        </p:blipFill>
        <p:spPr>
          <a:xfrm>
            <a:off x="8542325" y="1867205"/>
            <a:ext cx="380390" cy="380390"/>
          </a:xfrm>
          <a:prstGeom prst="rect">
            <a:avLst/>
          </a:prstGeom>
        </p:spPr>
      </p:pic>
      <p:sp>
        <p:nvSpPr>
          <p:cNvPr id="16" name="Text 11"/>
          <p:cNvSpPr txBox="1"/>
          <p:nvPr/>
        </p:nvSpPr>
        <p:spPr>
          <a:xfrm>
            <a:off x="9235440" y="1783080"/>
            <a:ext cx="2331720" cy="548640"/>
          </a:xfrm>
          <a:prstGeom prst="rect">
            <a:avLst/>
          </a:prstGeom>
          <a:noFill/>
          <a:ln/>
        </p:spPr>
        <p:txBody>
          <a:bodyPr wrap="square" lIns="0" tIns="0" rIns="0" bIns="0" rtlCol="0" anchor="ctr"/>
          <a:lstStyle/>
          <a:p>
            <a:pPr indent="0" marL="0">
              <a:buNone/>
            </a:pPr>
            <a:r>
              <a:rPr lang="en-US" sz="1700" b="1" dirty="0">
                <a:solidFill>
                  <a:schemeClr val="tx2"/>
                </a:solidFill>
              </a:rPr>
              <a:t>Mixed units</a:t>
            </a:r>
            <a:endParaRPr lang="en-US" sz="1700" dirty="0"/>
          </a:p>
        </p:txBody>
      </p:sp>
      <p:sp>
        <p:nvSpPr>
          <p:cNvPr id="17" name="Text 12"/>
          <p:cNvSpPr txBox="1"/>
          <p:nvPr/>
        </p:nvSpPr>
        <p:spPr>
          <a:xfrm>
            <a:off x="8366760" y="2560320"/>
            <a:ext cx="3154680" cy="960120"/>
          </a:xfrm>
          <a:prstGeom prst="rect">
            <a:avLst/>
          </a:prstGeom>
          <a:noFill/>
          <a:ln/>
        </p:spPr>
        <p:txBody>
          <a:bodyPr wrap="square" lIns="0" tIns="0" rIns="0" bIns="0" rtlCol="0" anchor="t"/>
          <a:lstStyle/>
          <a:p>
            <a:pPr indent="0" marL="0">
              <a:buNone/>
            </a:pPr>
            <a:r>
              <a:rPr lang="en-US" sz="1300" dirty="0">
                <a:solidFill>
                  <a:schemeClr val="tx1"/>
                </a:solidFill>
              </a:rPr>
              <a:t>mmol/L vs mg/dL, carbs in grams vs 10-g portions, basal U/h vs units</a:t>
            </a:r>
            <a:endParaRPr lang="en-US" sz="1300" dirty="0"/>
          </a:p>
        </p:txBody>
      </p:sp>
      <p:sp>
        <p:nvSpPr>
          <p:cNvPr id="18" name="prob3"/>
          <p:cNvSpPr/>
          <p:nvPr/>
        </p:nvSpPr>
        <p:spPr>
          <a:xfrm>
            <a:off x="548640" y="3840480"/>
            <a:ext cx="3566160" cy="2194560"/>
          </a:xfrm>
          <a:prstGeom prst="roundRect">
            <a:avLst>
              <a:gd name="adj" fmla="val 5000"/>
            </a:avLst>
          </a:prstGeom>
          <a:solidFill>
            <a:schemeClr val="bg2"/>
          </a:solidFill>
          <a:ln w="12700">
            <a:solidFill>
              <a:schemeClr val="bg2"/>
            </a:solidFill>
            <a:prstDash val="solid"/>
          </a:ln>
        </p:spPr>
      </p:sp>
      <p:sp>
        <p:nvSpPr>
          <p:cNvPr id="19" name="prob3-circle"/>
          <p:cNvSpPr/>
          <p:nvPr/>
        </p:nvSpPr>
        <p:spPr>
          <a:xfrm>
            <a:off x="777240" y="4114800"/>
            <a:ext cx="731520" cy="731520"/>
          </a:xfrm>
          <a:prstGeom prst="ellipse">
            <a:avLst/>
          </a:prstGeom>
          <a:solidFill>
            <a:schemeClr val="accent2"/>
          </a:solidFill>
          <a:ln w="12700">
            <a:solidFill>
              <a:schemeClr val="accent2"/>
            </a:solidFill>
            <a:prstDash val="solid"/>
          </a:ln>
        </p:spPr>
      </p:sp>
      <p:pic>
        <p:nvPicPr>
          <p:cNvPr id="20" name="prob3-icon" descr="preencoded.png">    </p:cNvPr>
          <p:cNvPicPr>
            <a:picLocks noChangeAspect="1"/>
          </p:cNvPicPr>
          <p:nvPr/>
        </p:nvPicPr>
        <p:blipFill>
          <a:blip r:embed="rId4"/>
          <a:stretch>
            <a:fillRect/>
          </a:stretch>
        </p:blipFill>
        <p:spPr>
          <a:xfrm>
            <a:off x="952805" y="4290365"/>
            <a:ext cx="380390" cy="380390"/>
          </a:xfrm>
          <a:prstGeom prst="rect">
            <a:avLst/>
          </a:prstGeom>
        </p:spPr>
      </p:pic>
      <p:sp>
        <p:nvSpPr>
          <p:cNvPr id="21" name="Text 15"/>
          <p:cNvSpPr txBox="1"/>
          <p:nvPr/>
        </p:nvSpPr>
        <p:spPr>
          <a:xfrm>
            <a:off x="1645920" y="4206240"/>
            <a:ext cx="2331720" cy="548640"/>
          </a:xfrm>
          <a:prstGeom prst="rect">
            <a:avLst/>
          </a:prstGeom>
          <a:noFill/>
          <a:ln/>
        </p:spPr>
        <p:txBody>
          <a:bodyPr wrap="square" lIns="0" tIns="0" rIns="0" bIns="0" rtlCol="0" anchor="ctr"/>
          <a:lstStyle/>
          <a:p>
            <a:pPr indent="0" marL="0">
              <a:buNone/>
            </a:pPr>
            <a:r>
              <a:rPr lang="en-US" sz="1700" b="1" dirty="0">
                <a:solidFill>
                  <a:schemeClr val="tx2"/>
                </a:solidFill>
              </a:rPr>
              <a:t>Missing ≠ zero</a:t>
            </a:r>
            <a:endParaRPr lang="en-US" sz="1700" dirty="0"/>
          </a:p>
        </p:txBody>
      </p:sp>
      <p:sp>
        <p:nvSpPr>
          <p:cNvPr id="22" name="Text 16"/>
          <p:cNvSpPr txBox="1"/>
          <p:nvPr/>
        </p:nvSpPr>
        <p:spPr>
          <a:xfrm>
            <a:off x="777240" y="4983480"/>
            <a:ext cx="3154680" cy="960120"/>
          </a:xfrm>
          <a:prstGeom prst="rect">
            <a:avLst/>
          </a:prstGeom>
          <a:noFill/>
          <a:ln/>
        </p:spPr>
        <p:txBody>
          <a:bodyPr wrap="square" lIns="0" tIns="0" rIns="0" bIns="0" rtlCol="0" anchor="t"/>
          <a:lstStyle/>
          <a:p>
            <a:pPr indent="0" marL="0">
              <a:buNone/>
            </a:pPr>
            <a:r>
              <a:rPr lang="en-US" sz="1300" dirty="0">
                <a:solidFill>
                  <a:schemeClr val="tx1"/>
                </a:solidFill>
              </a:rPr>
              <a:t>"Not recorded" kept separate from "none"; long-acting insulin spread over 24 h</a:t>
            </a:r>
            <a:endParaRPr lang="en-US" sz="1300" dirty="0"/>
          </a:p>
        </p:txBody>
      </p:sp>
      <p:sp>
        <p:nvSpPr>
          <p:cNvPr id="23" name="prob4"/>
          <p:cNvSpPr/>
          <p:nvPr/>
        </p:nvSpPr>
        <p:spPr>
          <a:xfrm>
            <a:off x="4343400" y="3840480"/>
            <a:ext cx="3566160" cy="2194560"/>
          </a:xfrm>
          <a:prstGeom prst="roundRect">
            <a:avLst>
              <a:gd name="adj" fmla="val 5000"/>
            </a:avLst>
          </a:prstGeom>
          <a:solidFill>
            <a:schemeClr val="bg2"/>
          </a:solidFill>
          <a:ln w="12700">
            <a:solidFill>
              <a:schemeClr val="bg2"/>
            </a:solidFill>
            <a:prstDash val="solid"/>
          </a:ln>
        </p:spPr>
      </p:sp>
      <p:sp>
        <p:nvSpPr>
          <p:cNvPr id="24" name="prob4-circle"/>
          <p:cNvSpPr/>
          <p:nvPr/>
        </p:nvSpPr>
        <p:spPr>
          <a:xfrm>
            <a:off x="4572000" y="4114800"/>
            <a:ext cx="731520" cy="731520"/>
          </a:xfrm>
          <a:prstGeom prst="ellipse">
            <a:avLst/>
          </a:prstGeom>
          <a:solidFill>
            <a:schemeClr val="accent2"/>
          </a:solidFill>
          <a:ln w="12700">
            <a:solidFill>
              <a:schemeClr val="accent2"/>
            </a:solidFill>
            <a:prstDash val="solid"/>
          </a:ln>
        </p:spPr>
      </p:sp>
      <p:pic>
        <p:nvPicPr>
          <p:cNvPr id="25" name="prob4-icon" descr="preencoded.png">    </p:cNvPr>
          <p:cNvPicPr>
            <a:picLocks noChangeAspect="1"/>
          </p:cNvPicPr>
          <p:nvPr/>
        </p:nvPicPr>
        <p:blipFill>
          <a:blip r:embed="rId5"/>
          <a:stretch>
            <a:fillRect/>
          </a:stretch>
        </p:blipFill>
        <p:spPr>
          <a:xfrm>
            <a:off x="4747565" y="4290365"/>
            <a:ext cx="380390" cy="380390"/>
          </a:xfrm>
          <a:prstGeom prst="rect">
            <a:avLst/>
          </a:prstGeom>
        </p:spPr>
      </p:pic>
      <p:sp>
        <p:nvSpPr>
          <p:cNvPr id="26" name="Text 19"/>
          <p:cNvSpPr txBox="1"/>
          <p:nvPr/>
        </p:nvSpPr>
        <p:spPr>
          <a:xfrm>
            <a:off x="5440680" y="4206240"/>
            <a:ext cx="2331720" cy="548640"/>
          </a:xfrm>
          <a:prstGeom prst="rect">
            <a:avLst/>
          </a:prstGeom>
          <a:noFill/>
          <a:ln/>
        </p:spPr>
        <p:txBody>
          <a:bodyPr wrap="square" lIns="0" tIns="0" rIns="0" bIns="0" rtlCol="0" anchor="ctr"/>
          <a:lstStyle/>
          <a:p>
            <a:pPr indent="0" marL="0">
              <a:buNone/>
            </a:pPr>
            <a:r>
              <a:rPr lang="en-US" sz="1700" b="1" dirty="0">
                <a:solidFill>
                  <a:schemeClr val="tx2"/>
                </a:solidFill>
              </a:rPr>
              <a:t>Different sensor speeds</a:t>
            </a:r>
            <a:endParaRPr lang="en-US" sz="1700" dirty="0"/>
          </a:p>
        </p:txBody>
      </p:sp>
      <p:sp>
        <p:nvSpPr>
          <p:cNvPr id="27" name="Text 20"/>
          <p:cNvSpPr txBox="1"/>
          <p:nvPr/>
        </p:nvSpPr>
        <p:spPr>
          <a:xfrm>
            <a:off x="4572000" y="4983480"/>
            <a:ext cx="3154680" cy="960120"/>
          </a:xfrm>
          <a:prstGeom prst="rect">
            <a:avLst/>
          </a:prstGeom>
          <a:noFill/>
          <a:ln/>
        </p:spPr>
        <p:txBody>
          <a:bodyPr wrap="square" lIns="0" tIns="0" rIns="0" bIns="0" rtlCol="0" anchor="t"/>
          <a:lstStyle/>
          <a:p>
            <a:pPr indent="0" marL="0">
              <a:buNone/>
            </a:pPr>
            <a:r>
              <a:rPr lang="en-US" sz="1300" dirty="0">
                <a:solidFill>
                  <a:schemeClr val="tx1"/>
                </a:solidFill>
              </a:rPr>
              <a:t>5-min and 15-min CGMs put on one common 15-minute grid</a:t>
            </a:r>
            <a:endParaRPr lang="en-US" sz="1300" dirty="0"/>
          </a:p>
        </p:txBody>
      </p:sp>
      <p:sp>
        <p:nvSpPr>
          <p:cNvPr id="28" name="prob5"/>
          <p:cNvSpPr/>
          <p:nvPr/>
        </p:nvSpPr>
        <p:spPr>
          <a:xfrm>
            <a:off x="8138160" y="3840480"/>
            <a:ext cx="3566160" cy="2194560"/>
          </a:xfrm>
          <a:prstGeom prst="roundRect">
            <a:avLst>
              <a:gd name="adj" fmla="val 5000"/>
            </a:avLst>
          </a:prstGeom>
          <a:solidFill>
            <a:schemeClr val="bg2"/>
          </a:solidFill>
          <a:ln w="12700">
            <a:solidFill>
              <a:schemeClr val="bg2"/>
            </a:solidFill>
            <a:prstDash val="solid"/>
          </a:ln>
        </p:spPr>
      </p:sp>
      <p:sp>
        <p:nvSpPr>
          <p:cNvPr id="29" name="prob5-circle"/>
          <p:cNvSpPr/>
          <p:nvPr/>
        </p:nvSpPr>
        <p:spPr>
          <a:xfrm>
            <a:off x="8366760" y="4114800"/>
            <a:ext cx="731520" cy="731520"/>
          </a:xfrm>
          <a:prstGeom prst="ellipse">
            <a:avLst/>
          </a:prstGeom>
          <a:solidFill>
            <a:schemeClr val="accent4"/>
          </a:solidFill>
          <a:ln w="12700">
            <a:solidFill>
              <a:schemeClr val="accent4"/>
            </a:solidFill>
            <a:prstDash val="solid"/>
          </a:ln>
        </p:spPr>
      </p:sp>
      <p:pic>
        <p:nvPicPr>
          <p:cNvPr id="30" name="prob5-icon" descr="preencoded.png">    </p:cNvPr>
          <p:cNvPicPr>
            <a:picLocks noChangeAspect="1"/>
          </p:cNvPicPr>
          <p:nvPr/>
        </p:nvPicPr>
        <p:blipFill>
          <a:blip r:embed="rId6"/>
          <a:stretch>
            <a:fillRect/>
          </a:stretch>
        </p:blipFill>
        <p:spPr>
          <a:xfrm>
            <a:off x="8542325" y="4290365"/>
            <a:ext cx="380390" cy="380390"/>
          </a:xfrm>
          <a:prstGeom prst="rect">
            <a:avLst/>
          </a:prstGeom>
        </p:spPr>
      </p:pic>
      <p:sp>
        <p:nvSpPr>
          <p:cNvPr id="31" name="Text 23"/>
          <p:cNvSpPr txBox="1"/>
          <p:nvPr/>
        </p:nvSpPr>
        <p:spPr>
          <a:xfrm>
            <a:off x="9235440" y="4206240"/>
            <a:ext cx="2331720" cy="548640"/>
          </a:xfrm>
          <a:prstGeom prst="rect">
            <a:avLst/>
          </a:prstGeom>
          <a:noFill/>
          <a:ln/>
        </p:spPr>
        <p:txBody>
          <a:bodyPr wrap="square" lIns="0" tIns="0" rIns="0" bIns="0" rtlCol="0" anchor="ctr"/>
          <a:lstStyle/>
          <a:p>
            <a:pPr indent="0" marL="0">
              <a:buNone/>
            </a:pPr>
            <a:r>
              <a:rPr lang="en-US" sz="1700" b="1" dirty="0">
                <a:solidFill>
                  <a:schemeClr val="tx2"/>
                </a:solidFill>
              </a:rPr>
              <a:t>Leak-proof by test</a:t>
            </a:r>
            <a:endParaRPr lang="en-US" sz="1700" dirty="0"/>
          </a:p>
        </p:txBody>
      </p:sp>
      <p:sp>
        <p:nvSpPr>
          <p:cNvPr id="32" name="Text 24"/>
          <p:cNvSpPr txBox="1"/>
          <p:nvPr/>
        </p:nvSpPr>
        <p:spPr>
          <a:xfrm>
            <a:off x="8366760" y="4983480"/>
            <a:ext cx="3154680" cy="960120"/>
          </a:xfrm>
          <a:prstGeom prst="rect">
            <a:avLst/>
          </a:prstGeom>
          <a:noFill/>
          <a:ln/>
        </p:spPr>
        <p:txBody>
          <a:bodyPr wrap="square" lIns="0" tIns="0" rIns="0" bIns="0" rtlCol="0" anchor="t"/>
          <a:lstStyle/>
          <a:p>
            <a:pPr indent="0" marL="0">
              <a:buNone/>
            </a:pPr>
            <a:r>
              <a:rPr lang="en-US" sz="1300" dirty="0">
                <a:solidFill>
                  <a:schemeClr val="tx1"/>
                </a:solidFill>
              </a:rPr>
              <a:t>100+ automated tests: changing future data never changes a past feature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111 fused features feed three horizon-specific models (123 in the v9 2-hour model)</a:t>
            </a:r>
            <a:endParaRPr lang="en-US" sz="3000" dirty="0"/>
          </a:p>
        </p:txBody>
      </p:sp>
      <p:sp>
        <p:nvSpPr>
          <p:cNvPr id="3" name="stream"/>
          <p:cNvSpPr/>
          <p:nvPr/>
        </p:nvSpPr>
        <p:spPr>
          <a:xfrm>
            <a:off x="548640" y="1371600"/>
            <a:ext cx="3657600" cy="4572000"/>
          </a:xfrm>
          <a:prstGeom prst="roundRect">
            <a:avLst>
              <a:gd name="adj" fmla="val 3000"/>
            </a:avLst>
          </a:prstGeom>
          <a:solidFill>
            <a:schemeClr val="bg2"/>
          </a:solidFill>
          <a:ln w="12700">
            <a:solidFill>
              <a:schemeClr val="bg2"/>
            </a:solidFill>
            <a:prstDash val="solid"/>
          </a:ln>
        </p:spPr>
      </p:sp>
      <p:sp>
        <p:nvSpPr>
          <p:cNvPr id="4" name="Text 2"/>
          <p:cNvSpPr txBox="1"/>
          <p:nvPr/>
        </p:nvSpPr>
        <p:spPr>
          <a:xfrm>
            <a:off x="777240" y="1554480"/>
            <a:ext cx="3200400" cy="457200"/>
          </a:xfrm>
          <a:prstGeom prst="rect">
            <a:avLst/>
          </a:prstGeom>
          <a:noFill/>
          <a:ln/>
        </p:spPr>
        <p:txBody>
          <a:bodyPr wrap="square" lIns="0" tIns="0" rIns="0" bIns="0" rtlCol="0" anchor="t"/>
          <a:lstStyle/>
          <a:p>
            <a:pPr indent="0" marL="0">
              <a:buNone/>
            </a:pPr>
            <a:r>
              <a:rPr lang="en-US" sz="2000" b="1" dirty="0">
                <a:solidFill>
                  <a:schemeClr val="accent1"/>
                </a:solidFill>
              </a:rPr>
              <a:t>Stream features · 80</a:t>
            </a:r>
            <a:endParaRPr lang="en-US" sz="2000" dirty="0"/>
          </a:p>
        </p:txBody>
      </p:sp>
      <p:sp>
        <p:nvSpPr>
          <p:cNvPr id="5" name="Text 3"/>
          <p:cNvSpPr txBox="1"/>
          <p:nvPr/>
        </p:nvSpPr>
        <p:spPr>
          <a:xfrm>
            <a:off x="777240" y="2103120"/>
            <a:ext cx="324612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Glucose level, change, slope, acceleration, 30-min projection</a:t>
            </a:r>
            <a:endParaRPr lang="en-US" sz="1400" dirty="0"/>
          </a:p>
          <a:p>
            <a:pPr marL="342900" indent="-342900">
              <a:spcAft>
                <a:spcPts val="800"/>
              </a:spcAft>
              <a:buSzPct val="100000"/>
              <a:buChar char="•"/>
            </a:pPr>
            <a:r>
              <a:rPr lang="en-US" sz="1400" dirty="0">
                <a:solidFill>
                  <a:schemeClr val="tx1"/>
                </a:solidFill>
              </a:rPr>
              <a:t>Rolling mean, spread, min, max (30 min – 4 h)</a:t>
            </a:r>
            <a:endParaRPr lang="en-US" sz="1400" dirty="0"/>
          </a:p>
          <a:p>
            <a:pPr marL="342900" indent="-342900">
              <a:spcAft>
                <a:spcPts val="800"/>
              </a:spcAft>
              <a:buSzPct val="100000"/>
              <a:buChar char="•"/>
            </a:pPr>
            <a:r>
              <a:rPr lang="en-US" sz="1400" dirty="0">
                <a:solidFill>
                  <a:schemeClr val="tx1"/>
                </a:solidFill>
              </a:rPr>
              <a:t>Insulin on board, carbs on board, last meal</a:t>
            </a:r>
            <a:endParaRPr lang="en-US" sz="1400" dirty="0"/>
          </a:p>
          <a:p>
            <a:pPr marL="342900" indent="-342900">
              <a:spcAft>
                <a:spcPts val="800"/>
              </a:spcAft>
              <a:buSzPct val="100000"/>
              <a:buChar char="•"/>
            </a:pPr>
            <a:r>
              <a:rPr lang="en-US" sz="1400" dirty="0">
                <a:solidFill>
                  <a:schemeClr val="tx1"/>
                </a:solidFill>
              </a:rPr>
              <a:t>Heart rate, steps, energy</a:t>
            </a:r>
            <a:endParaRPr lang="en-US" sz="1400" dirty="0"/>
          </a:p>
          <a:p>
            <a:pPr marL="342900" indent="-342900">
              <a:spcAft>
                <a:spcPts val="800"/>
              </a:spcAft>
              <a:buSzPct val="100000"/>
              <a:buChar char="•"/>
            </a:pPr>
            <a:r>
              <a:rPr lang="en-US" sz="1400" dirty="0">
                <a:solidFill>
                  <a:schemeClr val="tx1"/>
                </a:solidFill>
              </a:rPr>
              <a:t>Personal memory: spikes at this time on the last 7 days</a:t>
            </a:r>
            <a:endParaRPr lang="en-US" sz="1400" dirty="0"/>
          </a:p>
        </p:txBody>
      </p:sp>
      <p:sp>
        <p:nvSpPr>
          <p:cNvPr id="6" name="ehr"/>
          <p:cNvSpPr/>
          <p:nvPr/>
        </p:nvSpPr>
        <p:spPr>
          <a:xfrm>
            <a:off x="4389120" y="1371600"/>
            <a:ext cx="3657600" cy="4572000"/>
          </a:xfrm>
          <a:prstGeom prst="roundRect">
            <a:avLst>
              <a:gd name="adj" fmla="val 3000"/>
            </a:avLst>
          </a:prstGeom>
          <a:solidFill>
            <a:schemeClr val="bg2"/>
          </a:solidFill>
          <a:ln w="12700">
            <a:solidFill>
              <a:schemeClr val="bg2"/>
            </a:solidFill>
            <a:prstDash val="solid"/>
          </a:ln>
        </p:spPr>
      </p:sp>
      <p:sp>
        <p:nvSpPr>
          <p:cNvPr id="7" name="Text 5"/>
          <p:cNvSpPr txBox="1"/>
          <p:nvPr/>
        </p:nvSpPr>
        <p:spPr>
          <a:xfrm>
            <a:off x="4617720" y="1554480"/>
            <a:ext cx="3200400" cy="457200"/>
          </a:xfrm>
          <a:prstGeom prst="rect">
            <a:avLst/>
          </a:prstGeom>
          <a:noFill/>
          <a:ln/>
        </p:spPr>
        <p:txBody>
          <a:bodyPr wrap="square" lIns="0" tIns="0" rIns="0" bIns="0" rtlCol="0" anchor="t"/>
          <a:lstStyle/>
          <a:p>
            <a:pPr indent="0" marL="0">
              <a:buNone/>
            </a:pPr>
            <a:r>
              <a:rPr lang="en-US" sz="2000" b="1" dirty="0">
                <a:solidFill>
                  <a:schemeClr val="accent5"/>
                </a:solidFill>
              </a:rPr>
              <a:t>EHR features · 31</a:t>
            </a:r>
            <a:endParaRPr lang="en-US" sz="2000" dirty="0"/>
          </a:p>
        </p:txBody>
      </p:sp>
      <p:sp>
        <p:nvSpPr>
          <p:cNvPr id="8" name="Text 6"/>
          <p:cNvSpPr txBox="1"/>
          <p:nvPr/>
        </p:nvSpPr>
        <p:spPr>
          <a:xfrm>
            <a:off x="4617720" y="2103120"/>
            <a:ext cx="324612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Age, sex, BMI, smoking, alcohol</a:t>
            </a:r>
            <a:endParaRPr lang="en-US" sz="1400" dirty="0"/>
          </a:p>
          <a:p>
            <a:pPr marL="342900" indent="-342900">
              <a:spcAft>
                <a:spcPts val="800"/>
              </a:spcAft>
              <a:buSzPct val="100000"/>
              <a:buChar char="•"/>
            </a:pPr>
            <a:r>
              <a:rPr lang="en-US" sz="1400" dirty="0">
                <a:solidFill>
                  <a:schemeClr val="tx1"/>
                </a:solidFill>
              </a:rPr>
              <a:t>Diabetes type and duration, complications</a:t>
            </a:r>
            <a:endParaRPr lang="en-US" sz="1400" dirty="0"/>
          </a:p>
          <a:p>
            <a:pPr marL="342900" indent="-342900">
              <a:spcAft>
                <a:spcPts val="800"/>
              </a:spcAft>
              <a:buSzPct val="100000"/>
              <a:buChar char="•"/>
            </a:pPr>
            <a:r>
              <a:rPr lang="en-US" sz="1400" dirty="0">
                <a:solidFill>
                  <a:schemeClr val="tx1"/>
                </a:solidFill>
              </a:rPr>
              <a:t>HbA1c, glycated albumin, fasting and post-meal glucose, C-peptide</a:t>
            </a:r>
            <a:endParaRPr lang="en-US" sz="1400" dirty="0"/>
          </a:p>
          <a:p>
            <a:pPr marL="342900" indent="-342900">
              <a:spcAft>
                <a:spcPts val="800"/>
              </a:spcAft>
              <a:buSzPct val="100000"/>
              <a:buChar char="•"/>
            </a:pPr>
            <a:r>
              <a:rPr lang="en-US" sz="1400" dirty="0">
                <a:solidFill>
                  <a:schemeClr val="tx1"/>
                </a:solidFill>
              </a:rPr>
              <a:t>Lipids, creatinine, eGFR</a:t>
            </a:r>
            <a:endParaRPr lang="en-US" sz="1400" dirty="0"/>
          </a:p>
          <a:p>
            <a:pPr marL="342900" indent="-342900">
              <a:spcAft>
                <a:spcPts val="800"/>
              </a:spcAft>
              <a:buSzPct val="100000"/>
              <a:buChar char="•"/>
            </a:pPr>
            <a:r>
              <a:rPr lang="en-US" sz="1400" dirty="0">
                <a:solidFill>
                  <a:schemeClr val="tx1"/>
                </a:solidFill>
              </a:rPr>
              <a:t>Drug classes: insulin, metformin, SGLT2, DPP-4, GLP-1 …</a:t>
            </a:r>
            <a:endParaRPr lang="en-US" sz="1400" dirty="0"/>
          </a:p>
        </p:txBody>
      </p:sp>
      <p:sp>
        <p:nvSpPr>
          <p:cNvPr id="9" name="model"/>
          <p:cNvSpPr/>
          <p:nvPr/>
        </p:nvSpPr>
        <p:spPr>
          <a:xfrm>
            <a:off x="8229600" y="1371600"/>
            <a:ext cx="3383280" cy="4572000"/>
          </a:xfrm>
          <a:prstGeom prst="roundRect">
            <a:avLst>
              <a:gd name="adj" fmla="val 3243"/>
            </a:avLst>
          </a:prstGeom>
          <a:solidFill>
            <a:schemeClr val="tx2"/>
          </a:solidFill>
          <a:ln w="12700">
            <a:solidFill>
              <a:schemeClr val="tx2"/>
            </a:solidFill>
            <a:prstDash val="solid"/>
          </a:ln>
        </p:spPr>
      </p:sp>
      <p:sp>
        <p:nvSpPr>
          <p:cNvPr id="10" name="model-circle"/>
          <p:cNvSpPr/>
          <p:nvPr/>
        </p:nvSpPr>
        <p:spPr>
          <a:xfrm>
            <a:off x="9464040" y="1600200"/>
            <a:ext cx="914400" cy="914400"/>
          </a:xfrm>
          <a:prstGeom prst="ellipse">
            <a:avLst/>
          </a:prstGeom>
          <a:solidFill>
            <a:schemeClr val="accent1"/>
          </a:solidFill>
          <a:ln w="12700">
            <a:solidFill>
              <a:schemeClr val="accent1"/>
            </a:solidFill>
            <a:prstDash val="solid"/>
          </a:ln>
        </p:spPr>
      </p:sp>
      <p:pic>
        <p:nvPicPr>
          <p:cNvPr id="11" name="model-icon" descr="preencoded.png">    </p:cNvPr>
          <p:cNvPicPr>
            <a:picLocks noChangeAspect="1"/>
          </p:cNvPicPr>
          <p:nvPr/>
        </p:nvPicPr>
        <p:blipFill>
          <a:blip r:embed="rId1"/>
          <a:stretch>
            <a:fillRect/>
          </a:stretch>
        </p:blipFill>
        <p:spPr>
          <a:xfrm>
            <a:off x="9683496" y="1819656"/>
            <a:ext cx="475488" cy="475488"/>
          </a:xfrm>
          <a:prstGeom prst="rect">
            <a:avLst/>
          </a:prstGeom>
        </p:spPr>
      </p:pic>
      <p:sp>
        <p:nvSpPr>
          <p:cNvPr id="12" name="Text 9"/>
          <p:cNvSpPr txBox="1"/>
          <p:nvPr/>
        </p:nvSpPr>
        <p:spPr>
          <a:xfrm>
            <a:off x="8458200" y="2697480"/>
            <a:ext cx="2926080" cy="457200"/>
          </a:xfrm>
          <a:prstGeom prst="rect">
            <a:avLst/>
          </a:prstGeom>
          <a:noFill/>
          <a:ln/>
        </p:spPr>
        <p:txBody>
          <a:bodyPr wrap="square" lIns="0" tIns="0" rIns="0" bIns="0" rtlCol="0" anchor="t"/>
          <a:lstStyle/>
          <a:p>
            <a:pPr algn="ctr" indent="0" marL="0">
              <a:buNone/>
            </a:pPr>
            <a:r>
              <a:rPr lang="en-US" sz="1700" b="1" dirty="0">
                <a:solidFill>
                  <a:schemeClr val="bg1"/>
                </a:solidFill>
              </a:rPr>
              <a:t>HistGradientBoosting × 3</a:t>
            </a:r>
            <a:endParaRPr lang="en-US" sz="1700" dirty="0"/>
          </a:p>
        </p:txBody>
      </p:sp>
      <p:sp>
        <p:nvSpPr>
          <p:cNvPr id="13" name="Text 10"/>
          <p:cNvSpPr txBox="1"/>
          <p:nvPr/>
        </p:nvSpPr>
        <p:spPr>
          <a:xfrm>
            <a:off x="8503920" y="3246120"/>
            <a:ext cx="292608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One model per horizon: 30 min, 1 h, 2 h</a:t>
            </a:r>
            <a:endParaRPr lang="en-US" sz="1400" dirty="0"/>
          </a:p>
          <a:p>
            <a:pPr marL="342900" indent="-342900">
              <a:spcAft>
                <a:spcPts val="800"/>
              </a:spcAft>
              <a:buSzPct val="100000"/>
              <a:buChar char="•"/>
            </a:pPr>
            <a:r>
              <a:rPr lang="en-US" sz="1400" dirty="0">
                <a:solidFill>
                  <a:schemeClr val="bg2"/>
                </a:solidFill>
              </a:rPr>
              <a:t>Accuracy mode and safety mode thresholds</a:t>
            </a:r>
            <a:endParaRPr lang="en-US" sz="1400" dirty="0"/>
          </a:p>
          <a:p>
            <a:pPr marL="342900" indent="-342900">
              <a:spcAft>
                <a:spcPts val="800"/>
              </a:spcAft>
              <a:buSzPct val="100000"/>
              <a:buChar char="•"/>
            </a:pPr>
            <a:r>
              <a:rPr lang="en-US" sz="1400" dirty="0">
                <a:solidFill>
                  <a:schemeClr val="bg2"/>
                </a:solidFill>
              </a:rPr>
              <a:t>Each person weighted equally</a:t>
            </a:r>
            <a:endParaRPr lang="en-US" sz="1400" dirty="0"/>
          </a:p>
          <a:p>
            <a:pPr marL="342900" indent="-342900">
              <a:spcAft>
                <a:spcPts val="800"/>
              </a:spcAft>
              <a:buSzPct val="100000"/>
              <a:buChar char="•"/>
            </a:pPr>
            <a:r>
              <a:rPr lang="en-US" sz="1400" dirty="0">
                <a:solidFill>
                  <a:schemeClr val="bg2"/>
                </a:solidFill>
              </a:rPr>
              <a:t>2-hour model v9: +12 history and trend features</a:t>
            </a:r>
            <a:endParaRPr lang="en-US" sz="1400" dirty="0"/>
          </a:p>
          <a:p>
            <a:pPr marL="342900" indent="-342900">
              <a:spcAft>
                <a:spcPts val="800"/>
              </a:spcAft>
              <a:buSzPct val="100000"/>
              <a:buChar char="•"/>
            </a:pPr>
            <a:r>
              <a:rPr lang="en-US" sz="1400" dirty="0">
                <a:solidFill>
                  <a:schemeClr val="bg2"/>
                </a:solidFill>
              </a:rPr>
              <a:t>Runs live in under a second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Every number is measured on people the model never saw</a:t>
            </a:r>
            <a:endParaRPr lang="en-US" sz="3000" dirty="0"/>
          </a:p>
        </p:txBody>
      </p:sp>
      <p:sp>
        <p:nvSpPr>
          <p:cNvPr id="3" name="n0"/>
          <p:cNvSpPr/>
          <p:nvPr/>
        </p:nvSpPr>
        <p:spPr>
          <a:xfrm>
            <a:off x="731520" y="1417320"/>
            <a:ext cx="685800" cy="685800"/>
          </a:xfrm>
          <a:prstGeom prst="ellipse">
            <a:avLst/>
          </a:prstGeom>
          <a:solidFill>
            <a:schemeClr val="accent1"/>
          </a:solidFill>
          <a:ln w="12700">
            <a:solidFill>
              <a:schemeClr val="accent1"/>
            </a:solidFill>
            <a:prstDash val="solid"/>
          </a:ln>
        </p:spPr>
      </p:sp>
      <p:sp>
        <p:nvSpPr>
          <p:cNvPr id="4" name="Text 2"/>
          <p:cNvSpPr txBox="1"/>
          <p:nvPr/>
        </p:nvSpPr>
        <p:spPr>
          <a:xfrm>
            <a:off x="731520" y="14173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691640" y="1435608"/>
            <a:ext cx="4206240" cy="685800"/>
          </a:xfrm>
          <a:prstGeom prst="rect">
            <a:avLst/>
          </a:prstGeom>
          <a:noFill/>
          <a:ln/>
        </p:spPr>
        <p:txBody>
          <a:bodyPr wrap="square" lIns="0" tIns="0" rIns="0" bIns="0" rtlCol="0" anchor="ctr"/>
          <a:lstStyle/>
          <a:p>
            <a:pPr indent="0" marL="0">
              <a:buNone/>
            </a:pPr>
            <a:r>
              <a:rPr lang="en-US" sz="1900" b="1" dirty="0">
                <a:solidFill>
                  <a:schemeClr val="tx2"/>
                </a:solidFill>
              </a:rPr>
              <a:t>Person-grouped 7-fold CV</a:t>
            </a:r>
            <a:endParaRPr lang="en-US" sz="1900" dirty="0"/>
          </a:p>
        </p:txBody>
      </p:sp>
      <p:sp>
        <p:nvSpPr>
          <p:cNvPr id="6" name="Text 4"/>
          <p:cNvSpPr txBox="1"/>
          <p:nvPr/>
        </p:nvSpPr>
        <p:spPr>
          <a:xfrm>
            <a:off x="5760720" y="1435608"/>
            <a:ext cx="5852160" cy="685800"/>
          </a:xfrm>
          <a:prstGeom prst="rect">
            <a:avLst/>
          </a:prstGeom>
          <a:noFill/>
          <a:ln/>
        </p:spPr>
        <p:txBody>
          <a:bodyPr wrap="square" lIns="0" tIns="0" rIns="0" bIns="0" rtlCol="0" anchor="ctr"/>
          <a:lstStyle/>
          <a:p>
            <a:pPr indent="0" marL="0">
              <a:buNone/>
            </a:pPr>
            <a:r>
              <a:rPr lang="en-US" sz="1500" dirty="0">
                <a:solidFill>
                  <a:schemeClr val="tx1"/>
                </a:solidFill>
              </a:rPr>
              <a:t>A person is never in training and testing at once</a:t>
            </a:r>
            <a:endParaRPr lang="en-US" sz="1500" dirty="0"/>
          </a:p>
        </p:txBody>
      </p:sp>
      <p:sp>
        <p:nvSpPr>
          <p:cNvPr id="7" name="n1"/>
          <p:cNvSpPr/>
          <p:nvPr/>
        </p:nvSpPr>
        <p:spPr>
          <a:xfrm>
            <a:off x="731520" y="2359152"/>
            <a:ext cx="685800" cy="685800"/>
          </a:xfrm>
          <a:prstGeom prst="ellipse">
            <a:avLst/>
          </a:prstGeom>
          <a:solidFill>
            <a:schemeClr val="accent1"/>
          </a:solidFill>
          <a:ln w="12700">
            <a:solidFill>
              <a:schemeClr val="accent1"/>
            </a:solidFill>
            <a:prstDash val="solid"/>
          </a:ln>
        </p:spPr>
      </p:sp>
      <p:sp>
        <p:nvSpPr>
          <p:cNvPr id="8" name="Text 6"/>
          <p:cNvSpPr txBox="1"/>
          <p:nvPr/>
        </p:nvSpPr>
        <p:spPr>
          <a:xfrm>
            <a:off x="731520" y="2359152"/>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1691640" y="2377440"/>
            <a:ext cx="4206240" cy="685800"/>
          </a:xfrm>
          <a:prstGeom prst="rect">
            <a:avLst/>
          </a:prstGeom>
          <a:noFill/>
          <a:ln/>
        </p:spPr>
        <p:txBody>
          <a:bodyPr wrap="square" lIns="0" tIns="0" rIns="0" bIns="0" rtlCol="0" anchor="ctr"/>
          <a:lstStyle/>
          <a:p>
            <a:pPr indent="0" marL="0">
              <a:buNone/>
            </a:pPr>
            <a:r>
              <a:rPr lang="en-US" sz="1900" b="1" dirty="0">
                <a:solidFill>
                  <a:schemeClr val="tx2"/>
                </a:solidFill>
              </a:rPr>
              <a:t>Nested thresholds</a:t>
            </a:r>
            <a:endParaRPr lang="en-US" sz="1900" dirty="0"/>
          </a:p>
        </p:txBody>
      </p:sp>
      <p:sp>
        <p:nvSpPr>
          <p:cNvPr id="10" name="Text 8"/>
          <p:cNvSpPr txBox="1"/>
          <p:nvPr/>
        </p:nvSpPr>
        <p:spPr>
          <a:xfrm>
            <a:off x="5760720" y="2377440"/>
            <a:ext cx="5852160" cy="685800"/>
          </a:xfrm>
          <a:prstGeom prst="rect">
            <a:avLst/>
          </a:prstGeom>
          <a:noFill/>
          <a:ln/>
        </p:spPr>
        <p:txBody>
          <a:bodyPr wrap="square" lIns="0" tIns="0" rIns="0" bIns="0" rtlCol="0" anchor="ctr"/>
          <a:lstStyle/>
          <a:p>
            <a:pPr indent="0" marL="0">
              <a:buNone/>
            </a:pPr>
            <a:r>
              <a:rPr lang="en-US" sz="1500" dirty="0">
                <a:solidFill>
                  <a:schemeClr val="tx1"/>
                </a:solidFill>
              </a:rPr>
              <a:t>Alert thresholds chosen inside the training folds only</a:t>
            </a:r>
            <a:endParaRPr lang="en-US" sz="1500" dirty="0"/>
          </a:p>
        </p:txBody>
      </p:sp>
      <p:sp>
        <p:nvSpPr>
          <p:cNvPr id="11" name="n2"/>
          <p:cNvSpPr/>
          <p:nvPr/>
        </p:nvSpPr>
        <p:spPr>
          <a:xfrm>
            <a:off x="731520" y="3300984"/>
            <a:ext cx="685800" cy="685800"/>
          </a:xfrm>
          <a:prstGeom prst="ellipse">
            <a:avLst/>
          </a:prstGeom>
          <a:solidFill>
            <a:schemeClr val="accent1"/>
          </a:solidFill>
          <a:ln w="12700">
            <a:solidFill>
              <a:schemeClr val="accent1"/>
            </a:solidFill>
            <a:prstDash val="solid"/>
          </a:ln>
        </p:spPr>
      </p:sp>
      <p:sp>
        <p:nvSpPr>
          <p:cNvPr id="12" name="Text 10"/>
          <p:cNvSpPr txBox="1"/>
          <p:nvPr/>
        </p:nvSpPr>
        <p:spPr>
          <a:xfrm>
            <a:off x="731520" y="3300984"/>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1691640" y="3319272"/>
            <a:ext cx="4206240" cy="685800"/>
          </a:xfrm>
          <a:prstGeom prst="rect">
            <a:avLst/>
          </a:prstGeom>
          <a:noFill/>
          <a:ln/>
        </p:spPr>
        <p:txBody>
          <a:bodyPr wrap="square" lIns="0" tIns="0" rIns="0" bIns="0" rtlCol="0" anchor="ctr"/>
          <a:lstStyle/>
          <a:p>
            <a:pPr indent="0" marL="0">
              <a:buNone/>
            </a:pPr>
            <a:r>
              <a:rPr lang="en-US" sz="1900" b="1" dirty="0">
                <a:solidFill>
                  <a:schemeClr val="tx2"/>
                </a:solidFill>
              </a:rPr>
              <a:t>Leave-one-dataset-out</a:t>
            </a:r>
            <a:endParaRPr lang="en-US" sz="1900" dirty="0"/>
          </a:p>
        </p:txBody>
      </p:sp>
      <p:sp>
        <p:nvSpPr>
          <p:cNvPr id="14" name="Text 12"/>
          <p:cNvSpPr txBox="1"/>
          <p:nvPr/>
        </p:nvSpPr>
        <p:spPr>
          <a:xfrm>
            <a:off x="5760720" y="3319272"/>
            <a:ext cx="5852160" cy="685800"/>
          </a:xfrm>
          <a:prstGeom prst="rect">
            <a:avLst/>
          </a:prstGeom>
          <a:noFill/>
          <a:ln/>
        </p:spPr>
        <p:txBody>
          <a:bodyPr wrap="square" lIns="0" tIns="0" rIns="0" bIns="0" rtlCol="0" anchor="ctr"/>
          <a:lstStyle/>
          <a:p>
            <a:pPr indent="0" marL="0">
              <a:buNone/>
            </a:pPr>
            <a:r>
              <a:rPr lang="en-US" sz="1500" dirty="0">
                <a:solidFill>
                  <a:schemeClr val="tx1"/>
                </a:solidFill>
              </a:rPr>
              <a:t>Train on 4 datasets, test on a 5th</a:t>
            </a:r>
            <a:endParaRPr lang="en-US" sz="1500" dirty="0"/>
          </a:p>
        </p:txBody>
      </p:sp>
      <p:sp>
        <p:nvSpPr>
          <p:cNvPr id="15" name="n3"/>
          <p:cNvSpPr/>
          <p:nvPr/>
        </p:nvSpPr>
        <p:spPr>
          <a:xfrm>
            <a:off x="731520" y="4242816"/>
            <a:ext cx="685800" cy="685800"/>
          </a:xfrm>
          <a:prstGeom prst="ellipse">
            <a:avLst/>
          </a:prstGeom>
          <a:solidFill>
            <a:schemeClr val="accent1"/>
          </a:solidFill>
          <a:ln w="12700">
            <a:solidFill>
              <a:schemeClr val="accent1"/>
            </a:solidFill>
            <a:prstDash val="solid"/>
          </a:ln>
        </p:spPr>
      </p:sp>
      <p:sp>
        <p:nvSpPr>
          <p:cNvPr id="16" name="Text 14"/>
          <p:cNvSpPr txBox="1"/>
          <p:nvPr/>
        </p:nvSpPr>
        <p:spPr>
          <a:xfrm>
            <a:off x="731520" y="4242816"/>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7" name="Text 15"/>
          <p:cNvSpPr txBox="1"/>
          <p:nvPr/>
        </p:nvSpPr>
        <p:spPr>
          <a:xfrm>
            <a:off x="1691640" y="4261104"/>
            <a:ext cx="4206240" cy="685800"/>
          </a:xfrm>
          <a:prstGeom prst="rect">
            <a:avLst/>
          </a:prstGeom>
          <a:noFill/>
          <a:ln/>
        </p:spPr>
        <p:txBody>
          <a:bodyPr wrap="square" lIns="0" tIns="0" rIns="0" bIns="0" rtlCol="0" anchor="ctr"/>
          <a:lstStyle/>
          <a:p>
            <a:pPr indent="0" marL="0">
              <a:buNone/>
            </a:pPr>
            <a:r>
              <a:rPr lang="en-US" sz="1900" b="1" dirty="0">
                <a:solidFill>
                  <a:schemeClr val="tx2"/>
                </a:solidFill>
              </a:rPr>
              <a:t>External test: OhioT1DM</a:t>
            </a:r>
            <a:endParaRPr lang="en-US" sz="1900" dirty="0"/>
          </a:p>
        </p:txBody>
      </p:sp>
      <p:sp>
        <p:nvSpPr>
          <p:cNvPr id="18" name="Text 16"/>
          <p:cNvSpPr txBox="1"/>
          <p:nvPr/>
        </p:nvSpPr>
        <p:spPr>
          <a:xfrm>
            <a:off x="5760720" y="4261104"/>
            <a:ext cx="5852160" cy="685800"/>
          </a:xfrm>
          <a:prstGeom prst="rect">
            <a:avLst/>
          </a:prstGeom>
          <a:noFill/>
          <a:ln/>
        </p:spPr>
        <p:txBody>
          <a:bodyPr wrap="square" lIns="0" tIns="0" rIns="0" bIns="0" rtlCol="0" anchor="ctr"/>
          <a:lstStyle/>
          <a:p>
            <a:pPr indent="0" marL="0">
              <a:buNone/>
            </a:pPr>
            <a:r>
              <a:rPr lang="en-US" sz="1500" dirty="0">
                <a:solidFill>
                  <a:schemeClr val="tx1"/>
                </a:solidFill>
              </a:rPr>
              <a:t>New hospital, devices and patients</a:t>
            </a:r>
            <a:endParaRPr lang="en-US" sz="1500" dirty="0"/>
          </a:p>
        </p:txBody>
      </p:sp>
      <p:sp>
        <p:nvSpPr>
          <p:cNvPr id="19" name="n4"/>
          <p:cNvSpPr/>
          <p:nvPr/>
        </p:nvSpPr>
        <p:spPr>
          <a:xfrm>
            <a:off x="731520" y="5184648"/>
            <a:ext cx="685800" cy="685800"/>
          </a:xfrm>
          <a:prstGeom prst="ellipse">
            <a:avLst/>
          </a:prstGeom>
          <a:solidFill>
            <a:schemeClr val="accent1"/>
          </a:solidFill>
          <a:ln w="12700">
            <a:solidFill>
              <a:schemeClr val="accent1"/>
            </a:solidFill>
            <a:prstDash val="solid"/>
          </a:ln>
        </p:spPr>
      </p:sp>
      <p:sp>
        <p:nvSpPr>
          <p:cNvPr id="20" name="Text 18"/>
          <p:cNvSpPr txBox="1"/>
          <p:nvPr/>
        </p:nvSpPr>
        <p:spPr>
          <a:xfrm>
            <a:off x="731520" y="5184648"/>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1" name="Text 19"/>
          <p:cNvSpPr txBox="1"/>
          <p:nvPr/>
        </p:nvSpPr>
        <p:spPr>
          <a:xfrm>
            <a:off x="1691640" y="5202936"/>
            <a:ext cx="4206240" cy="685800"/>
          </a:xfrm>
          <a:prstGeom prst="rect">
            <a:avLst/>
          </a:prstGeom>
          <a:noFill/>
          <a:ln/>
        </p:spPr>
        <p:txBody>
          <a:bodyPr wrap="square" lIns="0" tIns="0" rIns="0" bIns="0" rtlCol="0" anchor="ctr"/>
          <a:lstStyle/>
          <a:p>
            <a:pPr indent="0" marL="0">
              <a:buNone/>
            </a:pPr>
            <a:r>
              <a:rPr lang="en-US" sz="1900" b="1" dirty="0">
                <a:solidFill>
                  <a:schemeClr val="tx2"/>
                </a:solidFill>
              </a:rPr>
              <a:t>Bias &amp; fit audit</a:t>
            </a:r>
            <a:endParaRPr lang="en-US" sz="1900" dirty="0"/>
          </a:p>
        </p:txBody>
      </p:sp>
      <p:sp>
        <p:nvSpPr>
          <p:cNvPr id="22" name="Text 20"/>
          <p:cNvSpPr txBox="1"/>
          <p:nvPr/>
        </p:nvSpPr>
        <p:spPr>
          <a:xfrm>
            <a:off x="5760720" y="5202936"/>
            <a:ext cx="5852160" cy="685800"/>
          </a:xfrm>
          <a:prstGeom prst="rect">
            <a:avLst/>
          </a:prstGeom>
          <a:noFill/>
          <a:ln/>
        </p:spPr>
        <p:txBody>
          <a:bodyPr wrap="square" lIns="0" tIns="0" rIns="0" bIns="0" rtlCol="0" anchor="ctr"/>
          <a:lstStyle/>
          <a:p>
            <a:pPr indent="0" marL="0">
              <a:buNone/>
            </a:pPr>
            <a:r>
              <a:rPr lang="en-US" sz="1500" dirty="0">
                <a:solidFill>
                  <a:schemeClr val="tx1"/>
                </a:solidFill>
              </a:rPr>
              <a:t>Sex, age, BMI, diabetes type, time of day, calibration, train-vs-test gap</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Early warning that works: 94.7% at 30 minutes, 84.9% at 2 hours</a:t>
            </a:r>
            <a:endParaRPr lang="en-US" sz="3000" dirty="0"/>
          </a:p>
        </p:txBody>
      </p:sp>
      <p:sp>
        <p:nvSpPr>
          <p:cNvPr id="3" name="res0"/>
          <p:cNvSpPr/>
          <p:nvPr/>
        </p:nvSpPr>
        <p:spPr>
          <a:xfrm>
            <a:off x="548640" y="1463040"/>
            <a:ext cx="3566160" cy="448056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822960" y="1691640"/>
            <a:ext cx="3017520" cy="457200"/>
          </a:xfrm>
          <a:prstGeom prst="rect">
            <a:avLst/>
          </a:prstGeom>
          <a:noFill/>
          <a:ln/>
        </p:spPr>
        <p:txBody>
          <a:bodyPr wrap="square" lIns="0" tIns="0" rIns="0" bIns="0" rtlCol="0" anchor="t"/>
          <a:lstStyle/>
          <a:p>
            <a:pPr indent="0" marL="0">
              <a:buNone/>
            </a:pPr>
            <a:r>
              <a:rPr lang="en-US" sz="1800" b="1" dirty="0">
                <a:solidFill>
                  <a:schemeClr val="tx2"/>
                </a:solidFill>
              </a:rPr>
              <a:t>Next 30 min</a:t>
            </a:r>
            <a:endParaRPr lang="en-US" sz="1800" dirty="0"/>
          </a:p>
        </p:txBody>
      </p:sp>
      <p:sp>
        <p:nvSpPr>
          <p:cNvPr id="5" name="Text 3"/>
          <p:cNvSpPr txBox="1"/>
          <p:nvPr/>
        </p:nvSpPr>
        <p:spPr>
          <a:xfrm>
            <a:off x="822960" y="2194560"/>
            <a:ext cx="3017520" cy="109728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94.7%</a:t>
            </a:r>
            <a:endParaRPr lang="en-US" sz="6000" dirty="0"/>
          </a:p>
        </p:txBody>
      </p:sp>
      <p:sp>
        <p:nvSpPr>
          <p:cNvPr id="6" name="Text 4"/>
          <p:cNvSpPr txBox="1"/>
          <p:nvPr/>
        </p:nvSpPr>
        <p:spPr>
          <a:xfrm>
            <a:off x="822960" y="3291840"/>
            <a:ext cx="3017520" cy="365760"/>
          </a:xfrm>
          <a:prstGeom prst="rect">
            <a:avLst/>
          </a:prstGeom>
          <a:noFill/>
          <a:ln/>
        </p:spPr>
        <p:txBody>
          <a:bodyPr wrap="square" lIns="0" tIns="0" rIns="0" bIns="0" rtlCol="0" anchor="t"/>
          <a:lstStyle/>
          <a:p>
            <a:pPr indent="0" marL="0">
              <a:buNone/>
            </a:pPr>
            <a:r>
              <a:rPr lang="en-US" sz="1400" dirty="0">
                <a:solidFill>
                  <a:schemeClr val="accent6"/>
                </a:solidFill>
              </a:rPr>
              <a:t>accuracy on unseen people</a:t>
            </a:r>
            <a:endParaRPr lang="en-US" sz="1400" dirty="0"/>
          </a:p>
        </p:txBody>
      </p:sp>
      <p:sp>
        <p:nvSpPr>
          <p:cNvPr id="7" name="Text 5"/>
          <p:cNvSpPr txBox="1"/>
          <p:nvPr/>
        </p:nvSpPr>
        <p:spPr>
          <a:xfrm>
            <a:off x="822960" y="3840480"/>
            <a:ext cx="3108960" cy="182880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ROC-AUC 0.983</a:t>
            </a:r>
            <a:endParaRPr lang="en-US" sz="1500" dirty="0"/>
          </a:p>
          <a:p>
            <a:pPr indent="0" marL="0">
              <a:spcAft>
                <a:spcPts val="600"/>
              </a:spcAft>
              <a:buNone/>
            </a:pPr>
            <a:r>
              <a:rPr lang="en-US" sz="1500" dirty="0">
                <a:solidFill>
                  <a:schemeClr val="tx1"/>
                </a:solidFill>
              </a:rPr>
              <a:t>Spikes caught 86.4% (safety mode 92.3%)</a:t>
            </a:r>
            <a:endParaRPr lang="en-US" sz="1500" dirty="0"/>
          </a:p>
          <a:p>
            <a:pPr indent="0" marL="0">
              <a:spcAft>
                <a:spcPts val="600"/>
              </a:spcAft>
              <a:buNone/>
            </a:pPr>
            <a:r>
              <a:rPr lang="en-US" sz="1500" dirty="0">
                <a:solidFill>
                  <a:schemeClr val="tx1"/>
                </a:solidFill>
              </a:rPr>
              <a:t>OhioT1DM external: 94.5%</a:t>
            </a:r>
            <a:endParaRPr lang="en-US" sz="1500" dirty="0"/>
          </a:p>
        </p:txBody>
      </p:sp>
      <p:sp>
        <p:nvSpPr>
          <p:cNvPr id="8" name="res1"/>
          <p:cNvSpPr/>
          <p:nvPr/>
        </p:nvSpPr>
        <p:spPr>
          <a:xfrm>
            <a:off x="4343400" y="1463040"/>
            <a:ext cx="3566160" cy="4480560"/>
          </a:xfrm>
          <a:prstGeom prst="roundRect">
            <a:avLst>
              <a:gd name="adj" fmla="val 3077"/>
            </a:avLst>
          </a:prstGeom>
          <a:solidFill>
            <a:schemeClr val="bg2"/>
          </a:solidFill>
          <a:ln w="12700">
            <a:solidFill>
              <a:schemeClr val="bg2"/>
            </a:solidFill>
            <a:prstDash val="solid"/>
          </a:ln>
        </p:spPr>
      </p:sp>
      <p:sp>
        <p:nvSpPr>
          <p:cNvPr id="9" name="Text 7"/>
          <p:cNvSpPr txBox="1"/>
          <p:nvPr/>
        </p:nvSpPr>
        <p:spPr>
          <a:xfrm>
            <a:off x="4617720" y="1691640"/>
            <a:ext cx="3017520" cy="457200"/>
          </a:xfrm>
          <a:prstGeom prst="rect">
            <a:avLst/>
          </a:prstGeom>
          <a:noFill/>
          <a:ln/>
        </p:spPr>
        <p:txBody>
          <a:bodyPr wrap="square" lIns="0" tIns="0" rIns="0" bIns="0" rtlCol="0" anchor="t"/>
          <a:lstStyle/>
          <a:p>
            <a:pPr indent="0" marL="0">
              <a:buNone/>
            </a:pPr>
            <a:r>
              <a:rPr lang="en-US" sz="1800" b="1" dirty="0">
                <a:solidFill>
                  <a:schemeClr val="tx2"/>
                </a:solidFill>
              </a:rPr>
              <a:t>Next 1 hour</a:t>
            </a:r>
            <a:endParaRPr lang="en-US" sz="1800" dirty="0"/>
          </a:p>
        </p:txBody>
      </p:sp>
      <p:sp>
        <p:nvSpPr>
          <p:cNvPr id="10" name="Text 8"/>
          <p:cNvSpPr txBox="1"/>
          <p:nvPr/>
        </p:nvSpPr>
        <p:spPr>
          <a:xfrm>
            <a:off x="4617720" y="2194560"/>
            <a:ext cx="3017520" cy="1097280"/>
          </a:xfrm>
          <a:prstGeom prst="rect">
            <a:avLst/>
          </a:prstGeom>
          <a:noFill/>
          <a:ln/>
        </p:spPr>
        <p:txBody>
          <a:bodyPr wrap="square" lIns="0" tIns="0" rIns="0" bIns="0" rtlCol="0" anchor="t"/>
          <a:lstStyle/>
          <a:p>
            <a:pPr indent="0" marL="0">
              <a:buNone/>
            </a:pPr>
            <a:r>
              <a:rPr lang="en-US" sz="6000" b="1" dirty="0">
                <a:solidFill>
                  <a:schemeClr val="accent3"/>
                </a:solidFill>
                <a:latin typeface="Cambria" pitchFamily="34" charset="0"/>
                <a:ea typeface="Cambria" pitchFamily="34" charset="-122"/>
                <a:cs typeface="Cambria" pitchFamily="34" charset="-120"/>
              </a:rPr>
              <a:t>91.1%</a:t>
            </a:r>
            <a:endParaRPr lang="en-US" sz="6000" dirty="0"/>
          </a:p>
        </p:txBody>
      </p:sp>
      <p:sp>
        <p:nvSpPr>
          <p:cNvPr id="11" name="Text 9"/>
          <p:cNvSpPr txBox="1"/>
          <p:nvPr/>
        </p:nvSpPr>
        <p:spPr>
          <a:xfrm>
            <a:off x="4617720" y="3291840"/>
            <a:ext cx="3017520" cy="365760"/>
          </a:xfrm>
          <a:prstGeom prst="rect">
            <a:avLst/>
          </a:prstGeom>
          <a:noFill/>
          <a:ln/>
        </p:spPr>
        <p:txBody>
          <a:bodyPr wrap="square" lIns="0" tIns="0" rIns="0" bIns="0" rtlCol="0" anchor="t"/>
          <a:lstStyle/>
          <a:p>
            <a:pPr indent="0" marL="0">
              <a:buNone/>
            </a:pPr>
            <a:r>
              <a:rPr lang="en-US" sz="1400" dirty="0">
                <a:solidFill>
                  <a:schemeClr val="accent6"/>
                </a:solidFill>
              </a:rPr>
              <a:t>accuracy on unseen people</a:t>
            </a:r>
            <a:endParaRPr lang="en-US" sz="1400" dirty="0"/>
          </a:p>
        </p:txBody>
      </p:sp>
      <p:sp>
        <p:nvSpPr>
          <p:cNvPr id="12" name="Text 10"/>
          <p:cNvSpPr txBox="1"/>
          <p:nvPr/>
        </p:nvSpPr>
        <p:spPr>
          <a:xfrm>
            <a:off x="4617720" y="3840480"/>
            <a:ext cx="3108960" cy="182880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ROC-AUC 0.956</a:t>
            </a:r>
            <a:endParaRPr lang="en-US" sz="1500" dirty="0"/>
          </a:p>
          <a:p>
            <a:pPr indent="0" marL="0">
              <a:spcAft>
                <a:spcPts val="600"/>
              </a:spcAft>
              <a:buNone/>
            </a:pPr>
            <a:r>
              <a:rPr lang="en-US" sz="1500" dirty="0">
                <a:solidFill>
                  <a:schemeClr val="tx1"/>
                </a:solidFill>
              </a:rPr>
              <a:t>Spikes caught 77.8% (safety mode 85.3%)</a:t>
            </a:r>
            <a:endParaRPr lang="en-US" sz="1500" dirty="0"/>
          </a:p>
          <a:p>
            <a:pPr indent="0" marL="0">
              <a:spcAft>
                <a:spcPts val="600"/>
              </a:spcAft>
              <a:buNone/>
            </a:pPr>
            <a:r>
              <a:rPr lang="en-US" sz="1500" dirty="0">
                <a:solidFill>
                  <a:schemeClr val="tx1"/>
                </a:solidFill>
              </a:rPr>
              <a:t>OhioT1DM external: 90.6%</a:t>
            </a:r>
            <a:endParaRPr lang="en-US" sz="1500" dirty="0"/>
          </a:p>
        </p:txBody>
      </p:sp>
      <p:sp>
        <p:nvSpPr>
          <p:cNvPr id="13" name="res2"/>
          <p:cNvSpPr/>
          <p:nvPr/>
        </p:nvSpPr>
        <p:spPr>
          <a:xfrm>
            <a:off x="8138160" y="1463040"/>
            <a:ext cx="3566160" cy="4480560"/>
          </a:xfrm>
          <a:prstGeom prst="roundRect">
            <a:avLst>
              <a:gd name="adj" fmla="val 3077"/>
            </a:avLst>
          </a:prstGeom>
          <a:solidFill>
            <a:schemeClr val="bg2"/>
          </a:solidFill>
          <a:ln w="12700">
            <a:solidFill>
              <a:schemeClr val="bg2"/>
            </a:solidFill>
            <a:prstDash val="solid"/>
          </a:ln>
        </p:spPr>
      </p:sp>
      <p:sp>
        <p:nvSpPr>
          <p:cNvPr id="14" name="Text 12"/>
          <p:cNvSpPr txBox="1"/>
          <p:nvPr/>
        </p:nvSpPr>
        <p:spPr>
          <a:xfrm>
            <a:off x="8412480" y="1691640"/>
            <a:ext cx="3017520" cy="457200"/>
          </a:xfrm>
          <a:prstGeom prst="rect">
            <a:avLst/>
          </a:prstGeom>
          <a:noFill/>
          <a:ln/>
        </p:spPr>
        <p:txBody>
          <a:bodyPr wrap="square" lIns="0" tIns="0" rIns="0" bIns="0" rtlCol="0" anchor="t"/>
          <a:lstStyle/>
          <a:p>
            <a:pPr indent="0" marL="0">
              <a:buNone/>
            </a:pPr>
            <a:r>
              <a:rPr lang="en-US" sz="1800" b="1" dirty="0">
                <a:solidFill>
                  <a:schemeClr val="tx2"/>
                </a:solidFill>
              </a:rPr>
              <a:t>Next 2 hours</a:t>
            </a:r>
            <a:endParaRPr lang="en-US" sz="1800" dirty="0"/>
          </a:p>
        </p:txBody>
      </p:sp>
      <p:sp>
        <p:nvSpPr>
          <p:cNvPr id="15" name="Text 13"/>
          <p:cNvSpPr txBox="1"/>
          <p:nvPr/>
        </p:nvSpPr>
        <p:spPr>
          <a:xfrm>
            <a:off x="8412480" y="2194560"/>
            <a:ext cx="301752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84.9%</a:t>
            </a:r>
            <a:endParaRPr lang="en-US" sz="6000" dirty="0"/>
          </a:p>
        </p:txBody>
      </p:sp>
      <p:sp>
        <p:nvSpPr>
          <p:cNvPr id="16" name="Text 14"/>
          <p:cNvSpPr txBox="1"/>
          <p:nvPr/>
        </p:nvSpPr>
        <p:spPr>
          <a:xfrm>
            <a:off x="8412480" y="3291840"/>
            <a:ext cx="3017520" cy="365760"/>
          </a:xfrm>
          <a:prstGeom prst="rect">
            <a:avLst/>
          </a:prstGeom>
          <a:noFill/>
          <a:ln/>
        </p:spPr>
        <p:txBody>
          <a:bodyPr wrap="square" lIns="0" tIns="0" rIns="0" bIns="0" rtlCol="0" anchor="t"/>
          <a:lstStyle/>
          <a:p>
            <a:pPr indent="0" marL="0">
              <a:buNone/>
            </a:pPr>
            <a:r>
              <a:rPr lang="en-US" sz="1400" dirty="0">
                <a:solidFill>
                  <a:schemeClr val="accent6"/>
                </a:solidFill>
              </a:rPr>
              <a:t>accuracy on unseen people</a:t>
            </a:r>
            <a:endParaRPr lang="en-US" sz="1400" dirty="0"/>
          </a:p>
        </p:txBody>
      </p:sp>
      <p:sp>
        <p:nvSpPr>
          <p:cNvPr id="17" name="Text 15"/>
          <p:cNvSpPr txBox="1"/>
          <p:nvPr/>
        </p:nvSpPr>
        <p:spPr>
          <a:xfrm>
            <a:off x="8412480" y="3840480"/>
            <a:ext cx="3108960" cy="182880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ROC-AUC 0.913</a:t>
            </a:r>
            <a:endParaRPr lang="en-US" sz="1500" dirty="0"/>
          </a:p>
          <a:p>
            <a:pPr indent="0" marL="0">
              <a:spcAft>
                <a:spcPts val="600"/>
              </a:spcAft>
              <a:buNone/>
            </a:pPr>
            <a:r>
              <a:rPr lang="en-US" sz="1500" dirty="0">
                <a:solidFill>
                  <a:schemeClr val="tx1"/>
                </a:solidFill>
              </a:rPr>
              <a:t>Spikes caught 68.9% (safety mode 76.7%)</a:t>
            </a:r>
            <a:endParaRPr lang="en-US" sz="1500" dirty="0"/>
          </a:p>
          <a:p>
            <a:pPr indent="0" marL="0">
              <a:spcAft>
                <a:spcPts val="600"/>
              </a:spcAft>
              <a:buNone/>
            </a:pPr>
            <a:r>
              <a:rPr lang="en-US" sz="1500" dirty="0">
                <a:solidFill>
                  <a:schemeClr val="tx1"/>
                </a:solidFill>
              </a:rPr>
              <a:t>OhioT1DM external: 83.7%</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GlucoTwin beats the "already high" rule, and the margin grows with the horizon</a:t>
            </a:r>
            <a:endParaRPr lang="en-US" sz="3000" dirty="0"/>
          </a:p>
        </p:txBody>
      </p:sp>
      <p:sp>
        <p:nvSpPr>
          <p:cNvPr id="3" name="Text 1"/>
          <p:cNvSpPr txBox="1"/>
          <p:nvPr/>
        </p:nvSpPr>
        <p:spPr>
          <a:xfrm>
            <a:off x="548640" y="1371600"/>
            <a:ext cx="7498080" cy="365760"/>
          </a:xfrm>
          <a:prstGeom prst="rect">
            <a:avLst/>
          </a:prstGeom>
          <a:noFill/>
          <a:ln/>
        </p:spPr>
        <p:txBody>
          <a:bodyPr wrap="square" lIns="0" tIns="0" rIns="0" bIns="0" rtlCol="0" anchor="t"/>
          <a:lstStyle/>
          <a:p>
            <a:pPr indent="0" marL="0">
              <a:buNone/>
            </a:pPr>
            <a:r>
              <a:rPr lang="en-US" sz="1400" b="1" dirty="0">
                <a:solidFill>
                  <a:schemeClr val="tx2"/>
                </a:solidFill>
              </a:rPr>
              <a:t>Accuracy on people the model never saw (%)</a:t>
            </a:r>
            <a:endParaRPr lang="en-US" sz="1400" dirty="0"/>
          </a:p>
        </p:txBody>
      </p:sp>
      <p:sp>
        <p:nvSpPr>
          <p:cNvPr id="4" name="baseline-grid-75"/>
          <p:cNvSpPr/>
          <p:nvPr/>
        </p:nvSpPr>
        <p:spPr>
          <a:xfrm>
            <a:off x="1005840" y="5349240"/>
            <a:ext cx="6949440" cy="0"/>
          </a:xfrm>
          <a:prstGeom prst="line">
            <a:avLst/>
          </a:prstGeom>
          <a:noFill/>
          <a:ln w="9525">
            <a:solidFill>
              <a:srgbClr val="EEF4F7"/>
            </a:solidFill>
            <a:prstDash val="solid"/>
          </a:ln>
        </p:spPr>
      </p:sp>
      <p:sp>
        <p:nvSpPr>
          <p:cNvPr id="5" name="Text 3"/>
          <p:cNvSpPr txBox="1"/>
          <p:nvPr/>
        </p:nvSpPr>
        <p:spPr>
          <a:xfrm>
            <a:off x="548640" y="5239512"/>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75</a:t>
            </a:r>
            <a:endParaRPr lang="en-US" sz="1000" dirty="0"/>
          </a:p>
        </p:txBody>
      </p:sp>
      <p:sp>
        <p:nvSpPr>
          <p:cNvPr id="6" name="baseline-grid-80"/>
          <p:cNvSpPr/>
          <p:nvPr/>
        </p:nvSpPr>
        <p:spPr>
          <a:xfrm>
            <a:off x="1005840" y="4654296"/>
            <a:ext cx="6949440" cy="0"/>
          </a:xfrm>
          <a:prstGeom prst="line">
            <a:avLst/>
          </a:prstGeom>
          <a:noFill/>
          <a:ln w="9525">
            <a:solidFill>
              <a:srgbClr val="EEF4F7"/>
            </a:solidFill>
            <a:prstDash val="solid"/>
          </a:ln>
        </p:spPr>
      </p:sp>
      <p:sp>
        <p:nvSpPr>
          <p:cNvPr id="7" name="Text 5"/>
          <p:cNvSpPr txBox="1"/>
          <p:nvPr/>
        </p:nvSpPr>
        <p:spPr>
          <a:xfrm>
            <a:off x="548640" y="4544568"/>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80</a:t>
            </a:r>
            <a:endParaRPr lang="en-US" sz="1000" dirty="0"/>
          </a:p>
        </p:txBody>
      </p:sp>
      <p:sp>
        <p:nvSpPr>
          <p:cNvPr id="8" name="baseline-grid-85"/>
          <p:cNvSpPr/>
          <p:nvPr/>
        </p:nvSpPr>
        <p:spPr>
          <a:xfrm>
            <a:off x="1005840" y="3959352"/>
            <a:ext cx="6949440" cy="0"/>
          </a:xfrm>
          <a:prstGeom prst="line">
            <a:avLst/>
          </a:prstGeom>
          <a:noFill/>
          <a:ln w="9525">
            <a:solidFill>
              <a:srgbClr val="EEF4F7"/>
            </a:solidFill>
            <a:prstDash val="solid"/>
          </a:ln>
        </p:spPr>
      </p:sp>
      <p:sp>
        <p:nvSpPr>
          <p:cNvPr id="9" name="Text 7"/>
          <p:cNvSpPr txBox="1"/>
          <p:nvPr/>
        </p:nvSpPr>
        <p:spPr>
          <a:xfrm>
            <a:off x="548640" y="3849624"/>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85</a:t>
            </a:r>
            <a:endParaRPr lang="en-US" sz="1000" dirty="0"/>
          </a:p>
        </p:txBody>
      </p:sp>
      <p:sp>
        <p:nvSpPr>
          <p:cNvPr id="10" name="baseline-grid-90"/>
          <p:cNvSpPr/>
          <p:nvPr/>
        </p:nvSpPr>
        <p:spPr>
          <a:xfrm>
            <a:off x="1005840" y="3264408"/>
            <a:ext cx="6949440" cy="0"/>
          </a:xfrm>
          <a:prstGeom prst="line">
            <a:avLst/>
          </a:prstGeom>
          <a:noFill/>
          <a:ln w="9525">
            <a:solidFill>
              <a:srgbClr val="EEF4F7"/>
            </a:solidFill>
            <a:prstDash val="solid"/>
          </a:ln>
        </p:spPr>
      </p:sp>
      <p:sp>
        <p:nvSpPr>
          <p:cNvPr id="11" name="Text 9"/>
          <p:cNvSpPr txBox="1"/>
          <p:nvPr/>
        </p:nvSpPr>
        <p:spPr>
          <a:xfrm>
            <a:off x="548640" y="3154680"/>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90</a:t>
            </a:r>
            <a:endParaRPr lang="en-US" sz="1000" dirty="0"/>
          </a:p>
        </p:txBody>
      </p:sp>
      <p:sp>
        <p:nvSpPr>
          <p:cNvPr id="12" name="baseline-grid-95"/>
          <p:cNvSpPr/>
          <p:nvPr/>
        </p:nvSpPr>
        <p:spPr>
          <a:xfrm>
            <a:off x="1005840" y="2569464"/>
            <a:ext cx="6949440" cy="0"/>
          </a:xfrm>
          <a:prstGeom prst="line">
            <a:avLst/>
          </a:prstGeom>
          <a:noFill/>
          <a:ln w="9525">
            <a:solidFill>
              <a:srgbClr val="EEF4F7"/>
            </a:solidFill>
            <a:prstDash val="solid"/>
          </a:ln>
        </p:spPr>
      </p:sp>
      <p:sp>
        <p:nvSpPr>
          <p:cNvPr id="13" name="Text 11"/>
          <p:cNvSpPr txBox="1"/>
          <p:nvPr/>
        </p:nvSpPr>
        <p:spPr>
          <a:xfrm>
            <a:off x="548640" y="2459736"/>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95</a:t>
            </a:r>
            <a:endParaRPr lang="en-US" sz="1000" dirty="0"/>
          </a:p>
        </p:txBody>
      </p:sp>
      <p:sp>
        <p:nvSpPr>
          <p:cNvPr id="14" name="baseline-grid-100"/>
          <p:cNvSpPr/>
          <p:nvPr/>
        </p:nvSpPr>
        <p:spPr>
          <a:xfrm>
            <a:off x="1005840" y="1874520"/>
            <a:ext cx="6949440" cy="0"/>
          </a:xfrm>
          <a:prstGeom prst="line">
            <a:avLst/>
          </a:prstGeom>
          <a:noFill/>
          <a:ln w="9525">
            <a:solidFill>
              <a:srgbClr val="EEF4F7"/>
            </a:solidFill>
            <a:prstDash val="solid"/>
          </a:ln>
        </p:spPr>
      </p:sp>
      <p:sp>
        <p:nvSpPr>
          <p:cNvPr id="15" name="Text 13"/>
          <p:cNvSpPr txBox="1"/>
          <p:nvPr/>
        </p:nvSpPr>
        <p:spPr>
          <a:xfrm>
            <a:off x="548640" y="1764792"/>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100</a:t>
            </a:r>
            <a:endParaRPr lang="en-US" sz="1000" dirty="0"/>
          </a:p>
        </p:txBody>
      </p:sp>
      <p:sp>
        <p:nvSpPr>
          <p:cNvPr id="16" name="baseline-bar-0-0"/>
          <p:cNvSpPr/>
          <p:nvPr/>
        </p:nvSpPr>
        <p:spPr>
          <a:xfrm>
            <a:off x="1357579" y="2755709"/>
            <a:ext cx="501091" cy="2593531"/>
          </a:xfrm>
          <a:prstGeom prst="rect">
            <a:avLst/>
          </a:prstGeom>
          <a:solidFill>
            <a:srgbClr val="8A94A6"/>
          </a:solidFill>
          <a:ln w="12700">
            <a:solidFill>
              <a:srgbClr val="8A94A6"/>
            </a:solidFill>
            <a:prstDash val="solid"/>
          </a:ln>
        </p:spPr>
      </p:sp>
      <p:sp>
        <p:nvSpPr>
          <p:cNvPr id="17" name="Text 15"/>
          <p:cNvSpPr txBox="1"/>
          <p:nvPr/>
        </p:nvSpPr>
        <p:spPr>
          <a:xfrm>
            <a:off x="1238707" y="2481389"/>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93.7</a:t>
            </a:r>
            <a:endParaRPr lang="en-US" sz="1100" dirty="0"/>
          </a:p>
        </p:txBody>
      </p:sp>
      <p:sp>
        <p:nvSpPr>
          <p:cNvPr id="18" name="baseline-bar-0-1"/>
          <p:cNvSpPr/>
          <p:nvPr/>
        </p:nvSpPr>
        <p:spPr>
          <a:xfrm>
            <a:off x="1913534" y="2606991"/>
            <a:ext cx="501091" cy="2742249"/>
          </a:xfrm>
          <a:prstGeom prst="rect">
            <a:avLst/>
          </a:prstGeom>
          <a:solidFill>
            <a:srgbClr val="0E7C86"/>
          </a:solidFill>
          <a:ln w="12700">
            <a:solidFill>
              <a:srgbClr val="0E7C86"/>
            </a:solidFill>
            <a:prstDash val="solid"/>
          </a:ln>
        </p:spPr>
      </p:sp>
      <p:sp>
        <p:nvSpPr>
          <p:cNvPr id="19" name="Text 17"/>
          <p:cNvSpPr txBox="1"/>
          <p:nvPr/>
        </p:nvSpPr>
        <p:spPr>
          <a:xfrm>
            <a:off x="1794662" y="2332671"/>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94.7</a:t>
            </a:r>
            <a:endParaRPr lang="en-US" sz="1100" dirty="0"/>
          </a:p>
        </p:txBody>
      </p:sp>
      <p:sp>
        <p:nvSpPr>
          <p:cNvPr id="20" name="baseline-bar-0-2"/>
          <p:cNvSpPr/>
          <p:nvPr/>
        </p:nvSpPr>
        <p:spPr>
          <a:xfrm>
            <a:off x="2469490" y="2634789"/>
            <a:ext cx="501091" cy="2714451"/>
          </a:xfrm>
          <a:prstGeom prst="rect">
            <a:avLst/>
          </a:prstGeom>
          <a:solidFill>
            <a:srgbClr val="E4572E"/>
          </a:solidFill>
          <a:ln w="12700">
            <a:solidFill>
              <a:srgbClr val="E4572E"/>
            </a:solidFill>
            <a:prstDash val="solid"/>
          </a:ln>
        </p:spPr>
      </p:sp>
      <p:sp>
        <p:nvSpPr>
          <p:cNvPr id="21" name="Text 19"/>
          <p:cNvSpPr txBox="1"/>
          <p:nvPr/>
        </p:nvSpPr>
        <p:spPr>
          <a:xfrm>
            <a:off x="2350618" y="2360469"/>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94.5</a:t>
            </a:r>
            <a:endParaRPr lang="en-US" sz="1100" dirty="0"/>
          </a:p>
        </p:txBody>
      </p:sp>
      <p:sp>
        <p:nvSpPr>
          <p:cNvPr id="22" name="Text 20"/>
          <p:cNvSpPr txBox="1"/>
          <p:nvPr/>
        </p:nvSpPr>
        <p:spPr>
          <a:xfrm>
            <a:off x="1005840" y="5422392"/>
            <a:ext cx="2316480" cy="274320"/>
          </a:xfrm>
          <a:prstGeom prst="rect">
            <a:avLst/>
          </a:prstGeom>
          <a:noFill/>
          <a:ln/>
        </p:spPr>
        <p:txBody>
          <a:bodyPr wrap="square" lIns="0" tIns="0" rIns="0" bIns="0" rtlCol="0" anchor="t"/>
          <a:lstStyle/>
          <a:p>
            <a:pPr algn="ctr" indent="0" marL="0">
              <a:buNone/>
            </a:pPr>
            <a:r>
              <a:rPr lang="en-US" sz="1300" b="1" dirty="0">
                <a:solidFill>
                  <a:schemeClr val="tx1"/>
                </a:solidFill>
              </a:rPr>
              <a:t>30 min</a:t>
            </a:r>
            <a:endParaRPr lang="en-US" sz="1300" dirty="0"/>
          </a:p>
        </p:txBody>
      </p:sp>
      <p:sp>
        <p:nvSpPr>
          <p:cNvPr id="23" name="baseline-bar-1-0"/>
          <p:cNvSpPr/>
          <p:nvPr/>
        </p:nvSpPr>
        <p:spPr>
          <a:xfrm>
            <a:off x="3674059" y="3310274"/>
            <a:ext cx="501091" cy="2038966"/>
          </a:xfrm>
          <a:prstGeom prst="rect">
            <a:avLst/>
          </a:prstGeom>
          <a:solidFill>
            <a:srgbClr val="8A94A6"/>
          </a:solidFill>
          <a:ln w="12700">
            <a:solidFill>
              <a:srgbClr val="8A94A6"/>
            </a:solidFill>
            <a:prstDash val="solid"/>
          </a:ln>
        </p:spPr>
      </p:sp>
      <p:sp>
        <p:nvSpPr>
          <p:cNvPr id="24" name="Text 22"/>
          <p:cNvSpPr txBox="1"/>
          <p:nvPr/>
        </p:nvSpPr>
        <p:spPr>
          <a:xfrm>
            <a:off x="3555187" y="3035954"/>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89.7</a:t>
            </a:r>
            <a:endParaRPr lang="en-US" sz="1100" dirty="0"/>
          </a:p>
        </p:txBody>
      </p:sp>
      <p:sp>
        <p:nvSpPr>
          <p:cNvPr id="25" name="baseline-bar-1-1"/>
          <p:cNvSpPr/>
          <p:nvPr/>
        </p:nvSpPr>
        <p:spPr>
          <a:xfrm>
            <a:off x="4230014" y="3105961"/>
            <a:ext cx="501091" cy="2243279"/>
          </a:xfrm>
          <a:prstGeom prst="rect">
            <a:avLst/>
          </a:prstGeom>
          <a:solidFill>
            <a:srgbClr val="0E7C86"/>
          </a:solidFill>
          <a:ln w="12700">
            <a:solidFill>
              <a:srgbClr val="0E7C86"/>
            </a:solidFill>
            <a:prstDash val="solid"/>
          </a:ln>
        </p:spPr>
      </p:sp>
      <p:sp>
        <p:nvSpPr>
          <p:cNvPr id="26" name="Text 24"/>
          <p:cNvSpPr txBox="1"/>
          <p:nvPr/>
        </p:nvSpPr>
        <p:spPr>
          <a:xfrm>
            <a:off x="4111142" y="2831641"/>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91.1</a:t>
            </a:r>
            <a:endParaRPr lang="en-US" sz="1100" dirty="0"/>
          </a:p>
        </p:txBody>
      </p:sp>
      <p:sp>
        <p:nvSpPr>
          <p:cNvPr id="27" name="baseline-bar-1-2"/>
          <p:cNvSpPr/>
          <p:nvPr/>
        </p:nvSpPr>
        <p:spPr>
          <a:xfrm>
            <a:off x="4785970" y="3176845"/>
            <a:ext cx="501091" cy="2172395"/>
          </a:xfrm>
          <a:prstGeom prst="rect">
            <a:avLst/>
          </a:prstGeom>
          <a:solidFill>
            <a:srgbClr val="E4572E"/>
          </a:solidFill>
          <a:ln w="12700">
            <a:solidFill>
              <a:srgbClr val="E4572E"/>
            </a:solidFill>
            <a:prstDash val="solid"/>
          </a:ln>
        </p:spPr>
      </p:sp>
      <p:sp>
        <p:nvSpPr>
          <p:cNvPr id="28" name="Text 26"/>
          <p:cNvSpPr txBox="1"/>
          <p:nvPr/>
        </p:nvSpPr>
        <p:spPr>
          <a:xfrm>
            <a:off x="4667098" y="2902525"/>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90.6</a:t>
            </a:r>
            <a:endParaRPr lang="en-US" sz="1100" dirty="0"/>
          </a:p>
        </p:txBody>
      </p:sp>
      <p:sp>
        <p:nvSpPr>
          <p:cNvPr id="29" name="Text 27"/>
          <p:cNvSpPr txBox="1"/>
          <p:nvPr/>
        </p:nvSpPr>
        <p:spPr>
          <a:xfrm>
            <a:off x="3322320" y="5422392"/>
            <a:ext cx="2316480" cy="274320"/>
          </a:xfrm>
          <a:prstGeom prst="rect">
            <a:avLst/>
          </a:prstGeom>
          <a:noFill/>
          <a:ln/>
        </p:spPr>
        <p:txBody>
          <a:bodyPr wrap="square" lIns="0" tIns="0" rIns="0" bIns="0" rtlCol="0" anchor="t"/>
          <a:lstStyle/>
          <a:p>
            <a:pPr algn="ctr" indent="0" marL="0">
              <a:buNone/>
            </a:pPr>
            <a:r>
              <a:rPr lang="en-US" sz="1300" b="1" dirty="0">
                <a:solidFill>
                  <a:schemeClr val="tx1"/>
                </a:solidFill>
              </a:rPr>
              <a:t>1 hour</a:t>
            </a:r>
            <a:endParaRPr lang="en-US" sz="1300" dirty="0"/>
          </a:p>
        </p:txBody>
      </p:sp>
      <p:sp>
        <p:nvSpPr>
          <p:cNvPr id="30" name="baseline-bar-2-0"/>
          <p:cNvSpPr/>
          <p:nvPr/>
        </p:nvSpPr>
        <p:spPr>
          <a:xfrm>
            <a:off x="5990539" y="4308214"/>
            <a:ext cx="501091" cy="1041026"/>
          </a:xfrm>
          <a:prstGeom prst="rect">
            <a:avLst/>
          </a:prstGeom>
          <a:solidFill>
            <a:srgbClr val="8A94A6"/>
          </a:solidFill>
          <a:ln w="12700">
            <a:solidFill>
              <a:srgbClr val="8A94A6"/>
            </a:solidFill>
            <a:prstDash val="solid"/>
          </a:ln>
        </p:spPr>
      </p:sp>
      <p:sp>
        <p:nvSpPr>
          <p:cNvPr id="31" name="Text 29"/>
          <p:cNvSpPr txBox="1"/>
          <p:nvPr/>
        </p:nvSpPr>
        <p:spPr>
          <a:xfrm>
            <a:off x="5871667" y="4033894"/>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82.5</a:t>
            </a:r>
            <a:endParaRPr lang="en-US" sz="1100" dirty="0"/>
          </a:p>
        </p:txBody>
      </p:sp>
      <p:sp>
        <p:nvSpPr>
          <p:cNvPr id="32" name="baseline-bar-2-1"/>
          <p:cNvSpPr/>
          <p:nvPr/>
        </p:nvSpPr>
        <p:spPr>
          <a:xfrm>
            <a:off x="6546494" y="3973251"/>
            <a:ext cx="501091" cy="1375989"/>
          </a:xfrm>
          <a:prstGeom prst="rect">
            <a:avLst/>
          </a:prstGeom>
          <a:solidFill>
            <a:srgbClr val="0E7C86"/>
          </a:solidFill>
          <a:ln w="12700">
            <a:solidFill>
              <a:srgbClr val="0E7C86"/>
            </a:solidFill>
            <a:prstDash val="solid"/>
          </a:ln>
        </p:spPr>
      </p:sp>
      <p:sp>
        <p:nvSpPr>
          <p:cNvPr id="33" name="Text 31"/>
          <p:cNvSpPr txBox="1"/>
          <p:nvPr/>
        </p:nvSpPr>
        <p:spPr>
          <a:xfrm>
            <a:off x="6427622" y="3698931"/>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84.9</a:t>
            </a:r>
            <a:endParaRPr lang="en-US" sz="1100" dirty="0"/>
          </a:p>
        </p:txBody>
      </p:sp>
      <p:sp>
        <p:nvSpPr>
          <p:cNvPr id="34" name="baseline-bar-2-2"/>
          <p:cNvSpPr/>
          <p:nvPr/>
        </p:nvSpPr>
        <p:spPr>
          <a:xfrm>
            <a:off x="7102450" y="4140037"/>
            <a:ext cx="501091" cy="1209203"/>
          </a:xfrm>
          <a:prstGeom prst="rect">
            <a:avLst/>
          </a:prstGeom>
          <a:solidFill>
            <a:srgbClr val="E4572E"/>
          </a:solidFill>
          <a:ln w="12700">
            <a:solidFill>
              <a:srgbClr val="E4572E"/>
            </a:solidFill>
            <a:prstDash val="solid"/>
          </a:ln>
        </p:spPr>
      </p:sp>
      <p:sp>
        <p:nvSpPr>
          <p:cNvPr id="35" name="Text 33"/>
          <p:cNvSpPr txBox="1"/>
          <p:nvPr/>
        </p:nvSpPr>
        <p:spPr>
          <a:xfrm>
            <a:off x="6983578" y="3865717"/>
            <a:ext cx="738835" cy="237744"/>
          </a:xfrm>
          <a:prstGeom prst="rect">
            <a:avLst/>
          </a:prstGeom>
          <a:noFill/>
          <a:ln/>
        </p:spPr>
        <p:txBody>
          <a:bodyPr wrap="square" lIns="0" tIns="0" rIns="0" bIns="0" rtlCol="0" anchor="t"/>
          <a:lstStyle/>
          <a:p>
            <a:pPr algn="ctr" indent="0" marL="0">
              <a:buNone/>
            </a:pPr>
            <a:r>
              <a:rPr lang="en-US" sz="1100" dirty="0">
                <a:solidFill>
                  <a:schemeClr val="tx1"/>
                </a:solidFill>
              </a:rPr>
              <a:t>83.7</a:t>
            </a:r>
            <a:endParaRPr lang="en-US" sz="1100" dirty="0"/>
          </a:p>
        </p:txBody>
      </p:sp>
      <p:sp>
        <p:nvSpPr>
          <p:cNvPr id="36" name="Text 34"/>
          <p:cNvSpPr txBox="1"/>
          <p:nvPr/>
        </p:nvSpPr>
        <p:spPr>
          <a:xfrm>
            <a:off x="5638800" y="5422392"/>
            <a:ext cx="2316480" cy="274320"/>
          </a:xfrm>
          <a:prstGeom prst="rect">
            <a:avLst/>
          </a:prstGeom>
          <a:noFill/>
          <a:ln/>
        </p:spPr>
        <p:txBody>
          <a:bodyPr wrap="square" lIns="0" tIns="0" rIns="0" bIns="0" rtlCol="0" anchor="t"/>
          <a:lstStyle/>
          <a:p>
            <a:pPr algn="ctr" indent="0" marL="0">
              <a:buNone/>
            </a:pPr>
            <a:r>
              <a:rPr lang="en-US" sz="1300" b="1" dirty="0">
                <a:solidFill>
                  <a:schemeClr val="tx1"/>
                </a:solidFill>
              </a:rPr>
              <a:t>2 hours</a:t>
            </a:r>
            <a:endParaRPr lang="en-US" sz="1300" dirty="0"/>
          </a:p>
        </p:txBody>
      </p:sp>
      <p:sp>
        <p:nvSpPr>
          <p:cNvPr id="37" name="baseline-key-0"/>
          <p:cNvSpPr/>
          <p:nvPr/>
        </p:nvSpPr>
        <p:spPr>
          <a:xfrm>
            <a:off x="1005840" y="5852160"/>
            <a:ext cx="164592" cy="164592"/>
          </a:xfrm>
          <a:prstGeom prst="rect">
            <a:avLst/>
          </a:prstGeom>
          <a:solidFill>
            <a:srgbClr val="8A94A6"/>
          </a:solidFill>
          <a:ln w="12700">
            <a:solidFill>
              <a:srgbClr val="8A94A6"/>
            </a:solidFill>
            <a:prstDash val="solid"/>
          </a:ln>
        </p:spPr>
      </p:sp>
      <p:sp>
        <p:nvSpPr>
          <p:cNvPr id="38" name="Text 36"/>
          <p:cNvSpPr txBox="1"/>
          <p:nvPr/>
        </p:nvSpPr>
        <p:spPr>
          <a:xfrm>
            <a:off x="1234440" y="5797296"/>
            <a:ext cx="2651760" cy="274320"/>
          </a:xfrm>
          <a:prstGeom prst="rect">
            <a:avLst/>
          </a:prstGeom>
          <a:noFill/>
          <a:ln/>
        </p:spPr>
        <p:txBody>
          <a:bodyPr wrap="square" lIns="0" tIns="0" rIns="0" bIns="0" rtlCol="0" anchor="t"/>
          <a:lstStyle/>
          <a:p>
            <a:pPr indent="0" marL="0">
              <a:buNone/>
            </a:pPr>
            <a:r>
              <a:rPr lang="en-US" sz="1100" dirty="0">
                <a:solidFill>
                  <a:schemeClr val="tx1"/>
                </a:solidFill>
              </a:rPr>
              <a:t>Simple rule (glucose &gt; 180 now)</a:t>
            </a:r>
            <a:endParaRPr lang="en-US" sz="1100" dirty="0"/>
          </a:p>
        </p:txBody>
      </p:sp>
      <p:sp>
        <p:nvSpPr>
          <p:cNvPr id="39" name="baseline-key-1"/>
          <p:cNvSpPr/>
          <p:nvPr/>
        </p:nvSpPr>
        <p:spPr>
          <a:xfrm>
            <a:off x="3749040" y="5852160"/>
            <a:ext cx="164592" cy="164592"/>
          </a:xfrm>
          <a:prstGeom prst="rect">
            <a:avLst/>
          </a:prstGeom>
          <a:solidFill>
            <a:srgbClr val="0E7C86"/>
          </a:solidFill>
          <a:ln w="12700">
            <a:solidFill>
              <a:srgbClr val="0E7C86"/>
            </a:solidFill>
            <a:prstDash val="solid"/>
          </a:ln>
        </p:spPr>
      </p:sp>
      <p:sp>
        <p:nvSpPr>
          <p:cNvPr id="40" name="Text 38"/>
          <p:cNvSpPr txBox="1"/>
          <p:nvPr/>
        </p:nvSpPr>
        <p:spPr>
          <a:xfrm>
            <a:off x="3977640" y="5797296"/>
            <a:ext cx="2651760" cy="274320"/>
          </a:xfrm>
          <a:prstGeom prst="rect">
            <a:avLst/>
          </a:prstGeom>
          <a:noFill/>
          <a:ln/>
        </p:spPr>
        <p:txBody>
          <a:bodyPr wrap="square" lIns="0" tIns="0" rIns="0" bIns="0" rtlCol="0" anchor="t"/>
          <a:lstStyle/>
          <a:p>
            <a:pPr indent="0" marL="0">
              <a:buNone/>
            </a:pPr>
            <a:r>
              <a:rPr lang="en-US" sz="1100" dirty="0">
                <a:solidFill>
                  <a:schemeClr val="tx1"/>
                </a:solidFill>
              </a:rPr>
              <a:t>GlucoTwin (cross-validation)</a:t>
            </a:r>
            <a:endParaRPr lang="en-US" sz="1100" dirty="0"/>
          </a:p>
        </p:txBody>
      </p:sp>
      <p:sp>
        <p:nvSpPr>
          <p:cNvPr id="41" name="baseline-key-2"/>
          <p:cNvSpPr/>
          <p:nvPr/>
        </p:nvSpPr>
        <p:spPr>
          <a:xfrm>
            <a:off x="6492240" y="5852160"/>
            <a:ext cx="164592" cy="164592"/>
          </a:xfrm>
          <a:prstGeom prst="rect">
            <a:avLst/>
          </a:prstGeom>
          <a:solidFill>
            <a:srgbClr val="E4572E"/>
          </a:solidFill>
          <a:ln w="12700">
            <a:solidFill>
              <a:srgbClr val="E4572E"/>
            </a:solidFill>
            <a:prstDash val="solid"/>
          </a:ln>
        </p:spPr>
      </p:sp>
      <p:sp>
        <p:nvSpPr>
          <p:cNvPr id="42" name="Text 40"/>
          <p:cNvSpPr txBox="1"/>
          <p:nvPr/>
        </p:nvSpPr>
        <p:spPr>
          <a:xfrm>
            <a:off x="6720840" y="5797296"/>
            <a:ext cx="2651760" cy="274320"/>
          </a:xfrm>
          <a:prstGeom prst="rect">
            <a:avLst/>
          </a:prstGeom>
          <a:noFill/>
          <a:ln/>
        </p:spPr>
        <p:txBody>
          <a:bodyPr wrap="square" lIns="0" tIns="0" rIns="0" bIns="0" rtlCol="0" anchor="t"/>
          <a:lstStyle/>
          <a:p>
            <a:pPr indent="0" marL="0">
              <a:buNone/>
            </a:pPr>
            <a:r>
              <a:rPr lang="en-US" sz="1100" dirty="0">
                <a:solidFill>
                  <a:schemeClr val="tx1"/>
                </a:solidFill>
              </a:rPr>
              <a:t>GlucoTwin on OhioT1DM (external)</a:t>
            </a:r>
            <a:endParaRPr lang="en-US" sz="1100" dirty="0"/>
          </a:p>
        </p:txBody>
      </p:sp>
      <p:sp>
        <p:nvSpPr>
          <p:cNvPr id="43" name="Text 41"/>
          <p:cNvSpPr txBox="1"/>
          <p:nvPr/>
        </p:nvSpPr>
        <p:spPr>
          <a:xfrm>
            <a:off x="8321040" y="1554480"/>
            <a:ext cx="3291840" cy="4389120"/>
          </a:xfrm>
          <a:prstGeom prst="rect">
            <a:avLst/>
          </a:prstGeom>
          <a:noFill/>
          <a:ln/>
        </p:spPr>
        <p:txBody>
          <a:bodyPr wrap="square" lIns="0" tIns="0" rIns="0" bIns="0" rtlCol="0" anchor="t"/>
          <a:lstStyle/>
          <a:p>
            <a:pPr indent="0" marL="0">
              <a:buNone/>
            </a:pPr>
            <a:r>
              <a:rPr lang="en-US" sz="1800" b="1" dirty="0">
                <a:solidFill>
                  <a:schemeClr val="tx2"/>
                </a:solidFill>
              </a:rPr>
              <a:t>Why a baseline matters</a:t>
            </a:r>
            <a:endParaRPr lang="en-US" sz="1500" dirty="0"/>
          </a:p>
          <a:p>
            <a:pPr indent="0" marL="0">
              <a:buNone/>
            </a:pPr>
            <a:r>
              <a:rPr lang="en-US" sz="1500" dirty="0">
                <a:solidFill>
                  <a:schemeClr val="tx1"/>
                </a:solidFill>
              </a:rPr>
              <a:t>If glucose is already above 180, a spike "in the next 30 minutes" is almost certain. That rule alone is right most of the time.</a:t>
            </a:r>
            <a:endParaRPr lang="en-US" sz="1500" dirty="0"/>
          </a:p>
          <a:p>
            <a:pPr indent="0" marL="0">
              <a:buNone/>
            </a:pPr>
            <a:r>
              <a:rPr lang="en-US" sz="1500" dirty="0">
                <a:solidFill>
                  <a:schemeClr val="tx1"/>
                </a:solidFill>
              </a:rPr>
              <a:t> </a:t>
            </a:r>
            <a:endParaRPr lang="en-US" sz="1500" dirty="0"/>
          </a:p>
          <a:p>
            <a:pPr indent="0" marL="0">
              <a:buNone/>
            </a:pPr>
            <a:r>
              <a:rPr lang="en-US" sz="1500" dirty="0">
                <a:solidFill>
                  <a:schemeClr val="tx1"/>
                </a:solidFill>
              </a:rPr>
              <a:t>The twin adds the hard part: spotting rises from normal glucose. Its ranking quality (AUC 0.91 at 2 h) is far above the rule's.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Strongest for Type 2 diabetes, and fair across patient groups</a:t>
            </a:r>
            <a:endParaRPr lang="en-US" sz="3000" dirty="0"/>
          </a:p>
        </p:txBody>
      </p:sp>
      <p:sp>
        <p:nvSpPr>
          <p:cNvPr id="3" name="Text 1"/>
          <p:cNvSpPr txBox="1"/>
          <p:nvPr/>
        </p:nvSpPr>
        <p:spPr>
          <a:xfrm>
            <a:off x="548640" y="1371600"/>
            <a:ext cx="5852160" cy="365760"/>
          </a:xfrm>
          <a:prstGeom prst="rect">
            <a:avLst/>
          </a:prstGeom>
          <a:noFill/>
          <a:ln/>
        </p:spPr>
        <p:txBody>
          <a:bodyPr wrap="square" lIns="0" tIns="0" rIns="0" bIns="0" rtlCol="0" anchor="t"/>
          <a:lstStyle/>
          <a:p>
            <a:pPr indent="0" marL="0">
              <a:buNone/>
            </a:pPr>
            <a:r>
              <a:rPr lang="en-US" sz="1400" b="1" dirty="0">
                <a:solidFill>
                  <a:schemeClr val="tx2"/>
                </a:solidFill>
              </a:rPr>
              <a:t>Accuracy by diabetes type (%)</a:t>
            </a:r>
            <a:endParaRPr lang="en-US" sz="1400" dirty="0"/>
          </a:p>
        </p:txBody>
      </p:sp>
      <p:sp>
        <p:nvSpPr>
          <p:cNvPr id="4" name="type-grid-75"/>
          <p:cNvSpPr/>
          <p:nvPr/>
        </p:nvSpPr>
        <p:spPr>
          <a:xfrm>
            <a:off x="1005840" y="5349240"/>
            <a:ext cx="5303520" cy="0"/>
          </a:xfrm>
          <a:prstGeom prst="line">
            <a:avLst/>
          </a:prstGeom>
          <a:noFill/>
          <a:ln w="9525">
            <a:solidFill>
              <a:srgbClr val="EEF4F7"/>
            </a:solidFill>
            <a:prstDash val="solid"/>
          </a:ln>
        </p:spPr>
      </p:sp>
      <p:sp>
        <p:nvSpPr>
          <p:cNvPr id="5" name="Text 3"/>
          <p:cNvSpPr txBox="1"/>
          <p:nvPr/>
        </p:nvSpPr>
        <p:spPr>
          <a:xfrm>
            <a:off x="548640" y="5239512"/>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75</a:t>
            </a:r>
            <a:endParaRPr lang="en-US" sz="1000" dirty="0"/>
          </a:p>
        </p:txBody>
      </p:sp>
      <p:sp>
        <p:nvSpPr>
          <p:cNvPr id="6" name="type-grid-80"/>
          <p:cNvSpPr/>
          <p:nvPr/>
        </p:nvSpPr>
        <p:spPr>
          <a:xfrm>
            <a:off x="1005840" y="4654296"/>
            <a:ext cx="5303520" cy="0"/>
          </a:xfrm>
          <a:prstGeom prst="line">
            <a:avLst/>
          </a:prstGeom>
          <a:noFill/>
          <a:ln w="9525">
            <a:solidFill>
              <a:srgbClr val="EEF4F7"/>
            </a:solidFill>
            <a:prstDash val="solid"/>
          </a:ln>
        </p:spPr>
      </p:sp>
      <p:sp>
        <p:nvSpPr>
          <p:cNvPr id="7" name="Text 5"/>
          <p:cNvSpPr txBox="1"/>
          <p:nvPr/>
        </p:nvSpPr>
        <p:spPr>
          <a:xfrm>
            <a:off x="548640" y="4544568"/>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80</a:t>
            </a:r>
            <a:endParaRPr lang="en-US" sz="1000" dirty="0"/>
          </a:p>
        </p:txBody>
      </p:sp>
      <p:sp>
        <p:nvSpPr>
          <p:cNvPr id="8" name="type-grid-85"/>
          <p:cNvSpPr/>
          <p:nvPr/>
        </p:nvSpPr>
        <p:spPr>
          <a:xfrm>
            <a:off x="1005840" y="3959352"/>
            <a:ext cx="5303520" cy="0"/>
          </a:xfrm>
          <a:prstGeom prst="line">
            <a:avLst/>
          </a:prstGeom>
          <a:noFill/>
          <a:ln w="9525">
            <a:solidFill>
              <a:srgbClr val="EEF4F7"/>
            </a:solidFill>
            <a:prstDash val="solid"/>
          </a:ln>
        </p:spPr>
      </p:sp>
      <p:sp>
        <p:nvSpPr>
          <p:cNvPr id="9" name="Text 7"/>
          <p:cNvSpPr txBox="1"/>
          <p:nvPr/>
        </p:nvSpPr>
        <p:spPr>
          <a:xfrm>
            <a:off x="548640" y="3849624"/>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85</a:t>
            </a:r>
            <a:endParaRPr lang="en-US" sz="1000" dirty="0"/>
          </a:p>
        </p:txBody>
      </p:sp>
      <p:sp>
        <p:nvSpPr>
          <p:cNvPr id="10" name="type-grid-90"/>
          <p:cNvSpPr/>
          <p:nvPr/>
        </p:nvSpPr>
        <p:spPr>
          <a:xfrm>
            <a:off x="1005840" y="3264408"/>
            <a:ext cx="5303520" cy="0"/>
          </a:xfrm>
          <a:prstGeom prst="line">
            <a:avLst/>
          </a:prstGeom>
          <a:noFill/>
          <a:ln w="9525">
            <a:solidFill>
              <a:srgbClr val="EEF4F7"/>
            </a:solidFill>
            <a:prstDash val="solid"/>
          </a:ln>
        </p:spPr>
      </p:sp>
      <p:sp>
        <p:nvSpPr>
          <p:cNvPr id="11" name="Text 9"/>
          <p:cNvSpPr txBox="1"/>
          <p:nvPr/>
        </p:nvSpPr>
        <p:spPr>
          <a:xfrm>
            <a:off x="548640" y="3154680"/>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90</a:t>
            </a:r>
            <a:endParaRPr lang="en-US" sz="1000" dirty="0"/>
          </a:p>
        </p:txBody>
      </p:sp>
      <p:sp>
        <p:nvSpPr>
          <p:cNvPr id="12" name="type-grid-95"/>
          <p:cNvSpPr/>
          <p:nvPr/>
        </p:nvSpPr>
        <p:spPr>
          <a:xfrm>
            <a:off x="1005840" y="2569464"/>
            <a:ext cx="5303520" cy="0"/>
          </a:xfrm>
          <a:prstGeom prst="line">
            <a:avLst/>
          </a:prstGeom>
          <a:noFill/>
          <a:ln w="9525">
            <a:solidFill>
              <a:srgbClr val="EEF4F7"/>
            </a:solidFill>
            <a:prstDash val="solid"/>
          </a:ln>
        </p:spPr>
      </p:sp>
      <p:sp>
        <p:nvSpPr>
          <p:cNvPr id="13" name="Text 11"/>
          <p:cNvSpPr txBox="1"/>
          <p:nvPr/>
        </p:nvSpPr>
        <p:spPr>
          <a:xfrm>
            <a:off x="548640" y="2459736"/>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95</a:t>
            </a:r>
            <a:endParaRPr lang="en-US" sz="1000" dirty="0"/>
          </a:p>
        </p:txBody>
      </p:sp>
      <p:sp>
        <p:nvSpPr>
          <p:cNvPr id="14" name="type-grid-100"/>
          <p:cNvSpPr/>
          <p:nvPr/>
        </p:nvSpPr>
        <p:spPr>
          <a:xfrm>
            <a:off x="1005840" y="1874520"/>
            <a:ext cx="5303520" cy="0"/>
          </a:xfrm>
          <a:prstGeom prst="line">
            <a:avLst/>
          </a:prstGeom>
          <a:noFill/>
          <a:ln w="9525">
            <a:solidFill>
              <a:srgbClr val="EEF4F7"/>
            </a:solidFill>
            <a:prstDash val="solid"/>
          </a:ln>
        </p:spPr>
      </p:sp>
      <p:sp>
        <p:nvSpPr>
          <p:cNvPr id="15" name="Text 13"/>
          <p:cNvSpPr txBox="1"/>
          <p:nvPr/>
        </p:nvSpPr>
        <p:spPr>
          <a:xfrm>
            <a:off x="548640" y="1764792"/>
            <a:ext cx="384048" cy="219456"/>
          </a:xfrm>
          <a:prstGeom prst="rect">
            <a:avLst/>
          </a:prstGeom>
          <a:noFill/>
          <a:ln/>
        </p:spPr>
        <p:txBody>
          <a:bodyPr wrap="square" lIns="0" tIns="0" rIns="0" bIns="0" rtlCol="0" anchor="t"/>
          <a:lstStyle/>
          <a:p>
            <a:pPr algn="r" indent="0" marL="0">
              <a:buNone/>
            </a:pPr>
            <a:r>
              <a:rPr lang="en-US" sz="1000" dirty="0">
                <a:solidFill>
                  <a:schemeClr val="accent6"/>
                </a:solidFill>
              </a:rPr>
              <a:t>100</a:t>
            </a:r>
            <a:endParaRPr lang="en-US" sz="1000" dirty="0"/>
          </a:p>
        </p:txBody>
      </p:sp>
      <p:sp>
        <p:nvSpPr>
          <p:cNvPr id="16" name="type-bar-0-0"/>
          <p:cNvSpPr/>
          <p:nvPr/>
        </p:nvSpPr>
        <p:spPr>
          <a:xfrm>
            <a:off x="1280770" y="2668146"/>
            <a:ext cx="581558" cy="2681094"/>
          </a:xfrm>
          <a:prstGeom prst="rect">
            <a:avLst/>
          </a:prstGeom>
          <a:solidFill>
            <a:srgbClr val="5B7DB1"/>
          </a:solidFill>
          <a:ln w="12700">
            <a:solidFill>
              <a:srgbClr val="5B7DB1"/>
            </a:solidFill>
            <a:prstDash val="solid"/>
          </a:ln>
        </p:spPr>
      </p:sp>
      <p:sp>
        <p:nvSpPr>
          <p:cNvPr id="17" name="Text 15"/>
          <p:cNvSpPr txBox="1"/>
          <p:nvPr/>
        </p:nvSpPr>
        <p:spPr>
          <a:xfrm>
            <a:off x="1161898" y="2393826"/>
            <a:ext cx="819302" cy="237744"/>
          </a:xfrm>
          <a:prstGeom prst="rect">
            <a:avLst/>
          </a:prstGeom>
          <a:noFill/>
          <a:ln/>
        </p:spPr>
        <p:txBody>
          <a:bodyPr wrap="square" lIns="0" tIns="0" rIns="0" bIns="0" rtlCol="0" anchor="t"/>
          <a:lstStyle/>
          <a:p>
            <a:pPr algn="ctr" indent="0" marL="0">
              <a:buNone/>
            </a:pPr>
            <a:r>
              <a:rPr lang="en-US" sz="1100" dirty="0">
                <a:solidFill>
                  <a:schemeClr val="tx1"/>
                </a:solidFill>
              </a:rPr>
              <a:t>94.3</a:t>
            </a:r>
            <a:endParaRPr lang="en-US" sz="1100" dirty="0"/>
          </a:p>
        </p:txBody>
      </p:sp>
      <p:sp>
        <p:nvSpPr>
          <p:cNvPr id="18" name="type-bar-0-1"/>
          <p:cNvSpPr/>
          <p:nvPr/>
        </p:nvSpPr>
        <p:spPr>
          <a:xfrm>
            <a:off x="1917192" y="2377659"/>
            <a:ext cx="581558" cy="2971581"/>
          </a:xfrm>
          <a:prstGeom prst="rect">
            <a:avLst/>
          </a:prstGeom>
          <a:solidFill>
            <a:srgbClr val="0E7C86"/>
          </a:solidFill>
          <a:ln w="12700">
            <a:solidFill>
              <a:srgbClr val="0E7C86"/>
            </a:solidFill>
            <a:prstDash val="solid"/>
          </a:ln>
        </p:spPr>
      </p:sp>
      <p:sp>
        <p:nvSpPr>
          <p:cNvPr id="19" name="Text 17"/>
          <p:cNvSpPr txBox="1"/>
          <p:nvPr/>
        </p:nvSpPr>
        <p:spPr>
          <a:xfrm>
            <a:off x="1798320" y="2103339"/>
            <a:ext cx="819302" cy="237744"/>
          </a:xfrm>
          <a:prstGeom prst="rect">
            <a:avLst/>
          </a:prstGeom>
          <a:noFill/>
          <a:ln/>
        </p:spPr>
        <p:txBody>
          <a:bodyPr wrap="square" lIns="0" tIns="0" rIns="0" bIns="0" rtlCol="0" anchor="t"/>
          <a:lstStyle/>
          <a:p>
            <a:pPr algn="ctr" indent="0" marL="0">
              <a:buNone/>
            </a:pPr>
            <a:r>
              <a:rPr lang="en-US" sz="1100" dirty="0">
                <a:solidFill>
                  <a:schemeClr val="tx1"/>
                </a:solidFill>
              </a:rPr>
              <a:t>96.4</a:t>
            </a:r>
            <a:endParaRPr lang="en-US" sz="1100" dirty="0"/>
          </a:p>
        </p:txBody>
      </p:sp>
      <p:sp>
        <p:nvSpPr>
          <p:cNvPr id="20" name="Text 18"/>
          <p:cNvSpPr txBox="1"/>
          <p:nvPr/>
        </p:nvSpPr>
        <p:spPr>
          <a:xfrm>
            <a:off x="1005840" y="5422392"/>
            <a:ext cx="1767840" cy="274320"/>
          </a:xfrm>
          <a:prstGeom prst="rect">
            <a:avLst/>
          </a:prstGeom>
          <a:noFill/>
          <a:ln/>
        </p:spPr>
        <p:txBody>
          <a:bodyPr wrap="square" lIns="0" tIns="0" rIns="0" bIns="0" rtlCol="0" anchor="t"/>
          <a:lstStyle/>
          <a:p>
            <a:pPr algn="ctr" indent="0" marL="0">
              <a:buNone/>
            </a:pPr>
            <a:r>
              <a:rPr lang="en-US" sz="1300" b="1" dirty="0">
                <a:solidFill>
                  <a:schemeClr val="tx1"/>
                </a:solidFill>
              </a:rPr>
              <a:t>30 min</a:t>
            </a:r>
            <a:endParaRPr lang="en-US" sz="1300" dirty="0"/>
          </a:p>
        </p:txBody>
      </p:sp>
      <p:sp>
        <p:nvSpPr>
          <p:cNvPr id="21" name="type-bar-1-0"/>
          <p:cNvSpPr/>
          <p:nvPr/>
        </p:nvSpPr>
        <p:spPr>
          <a:xfrm>
            <a:off x="3048610" y="3203253"/>
            <a:ext cx="581558" cy="2145987"/>
          </a:xfrm>
          <a:prstGeom prst="rect">
            <a:avLst/>
          </a:prstGeom>
          <a:solidFill>
            <a:srgbClr val="5B7DB1"/>
          </a:solidFill>
          <a:ln w="12700">
            <a:solidFill>
              <a:srgbClr val="5B7DB1"/>
            </a:solidFill>
            <a:prstDash val="solid"/>
          </a:ln>
        </p:spPr>
      </p:sp>
      <p:sp>
        <p:nvSpPr>
          <p:cNvPr id="22" name="Text 20"/>
          <p:cNvSpPr txBox="1"/>
          <p:nvPr/>
        </p:nvSpPr>
        <p:spPr>
          <a:xfrm>
            <a:off x="2929738" y="2928933"/>
            <a:ext cx="819302" cy="237744"/>
          </a:xfrm>
          <a:prstGeom prst="rect">
            <a:avLst/>
          </a:prstGeom>
          <a:noFill/>
          <a:ln/>
        </p:spPr>
        <p:txBody>
          <a:bodyPr wrap="square" lIns="0" tIns="0" rIns="0" bIns="0" rtlCol="0" anchor="t"/>
          <a:lstStyle/>
          <a:p>
            <a:pPr algn="ctr" indent="0" marL="0">
              <a:buNone/>
            </a:pPr>
            <a:r>
              <a:rPr lang="en-US" sz="1100" dirty="0">
                <a:solidFill>
                  <a:schemeClr val="tx1"/>
                </a:solidFill>
              </a:rPr>
              <a:t>90.4</a:t>
            </a:r>
            <a:endParaRPr lang="en-US" sz="1100" dirty="0"/>
          </a:p>
        </p:txBody>
      </p:sp>
      <p:sp>
        <p:nvSpPr>
          <p:cNvPr id="23" name="type-bar-1-1"/>
          <p:cNvSpPr/>
          <p:nvPr/>
        </p:nvSpPr>
        <p:spPr>
          <a:xfrm>
            <a:off x="3685032" y="2739030"/>
            <a:ext cx="581558" cy="2610210"/>
          </a:xfrm>
          <a:prstGeom prst="rect">
            <a:avLst/>
          </a:prstGeom>
          <a:solidFill>
            <a:srgbClr val="0E7C86"/>
          </a:solidFill>
          <a:ln w="12700">
            <a:solidFill>
              <a:srgbClr val="0E7C86"/>
            </a:solidFill>
            <a:prstDash val="solid"/>
          </a:ln>
        </p:spPr>
      </p:sp>
      <p:sp>
        <p:nvSpPr>
          <p:cNvPr id="24" name="Text 22"/>
          <p:cNvSpPr txBox="1"/>
          <p:nvPr/>
        </p:nvSpPr>
        <p:spPr>
          <a:xfrm>
            <a:off x="3566160" y="2464710"/>
            <a:ext cx="819302" cy="237744"/>
          </a:xfrm>
          <a:prstGeom prst="rect">
            <a:avLst/>
          </a:prstGeom>
          <a:noFill/>
          <a:ln/>
        </p:spPr>
        <p:txBody>
          <a:bodyPr wrap="square" lIns="0" tIns="0" rIns="0" bIns="0" rtlCol="0" anchor="t"/>
          <a:lstStyle/>
          <a:p>
            <a:pPr algn="ctr" indent="0" marL="0">
              <a:buNone/>
            </a:pPr>
            <a:r>
              <a:rPr lang="en-US" sz="1100" dirty="0">
                <a:solidFill>
                  <a:schemeClr val="tx1"/>
                </a:solidFill>
              </a:rPr>
              <a:t>93.8</a:t>
            </a:r>
            <a:endParaRPr lang="en-US" sz="1100" dirty="0"/>
          </a:p>
        </p:txBody>
      </p:sp>
      <p:sp>
        <p:nvSpPr>
          <p:cNvPr id="25" name="Text 23"/>
          <p:cNvSpPr txBox="1"/>
          <p:nvPr/>
        </p:nvSpPr>
        <p:spPr>
          <a:xfrm>
            <a:off x="2773680" y="5422392"/>
            <a:ext cx="1767840" cy="274320"/>
          </a:xfrm>
          <a:prstGeom prst="rect">
            <a:avLst/>
          </a:prstGeom>
          <a:noFill/>
          <a:ln/>
        </p:spPr>
        <p:txBody>
          <a:bodyPr wrap="square" lIns="0" tIns="0" rIns="0" bIns="0" rtlCol="0" anchor="t"/>
          <a:lstStyle/>
          <a:p>
            <a:pPr algn="ctr" indent="0" marL="0">
              <a:buNone/>
            </a:pPr>
            <a:r>
              <a:rPr lang="en-US" sz="1300" b="1" dirty="0">
                <a:solidFill>
                  <a:schemeClr val="tx1"/>
                </a:solidFill>
              </a:rPr>
              <a:t>1 hour</a:t>
            </a:r>
            <a:endParaRPr lang="en-US" sz="1300" dirty="0"/>
          </a:p>
        </p:txBody>
      </p:sp>
      <p:sp>
        <p:nvSpPr>
          <p:cNvPr id="26" name="type-bar-2-0"/>
          <p:cNvSpPr/>
          <p:nvPr/>
        </p:nvSpPr>
        <p:spPr>
          <a:xfrm>
            <a:off x="4816450" y="4152546"/>
            <a:ext cx="581558" cy="1196694"/>
          </a:xfrm>
          <a:prstGeom prst="rect">
            <a:avLst/>
          </a:prstGeom>
          <a:solidFill>
            <a:srgbClr val="5B7DB1"/>
          </a:solidFill>
          <a:ln w="12700">
            <a:solidFill>
              <a:srgbClr val="5B7DB1"/>
            </a:solidFill>
            <a:prstDash val="solid"/>
          </a:ln>
        </p:spPr>
      </p:sp>
      <p:sp>
        <p:nvSpPr>
          <p:cNvPr id="27" name="Text 25"/>
          <p:cNvSpPr txBox="1"/>
          <p:nvPr/>
        </p:nvSpPr>
        <p:spPr>
          <a:xfrm>
            <a:off x="4697578" y="3878226"/>
            <a:ext cx="819302" cy="237744"/>
          </a:xfrm>
          <a:prstGeom prst="rect">
            <a:avLst/>
          </a:prstGeom>
          <a:noFill/>
          <a:ln/>
        </p:spPr>
        <p:txBody>
          <a:bodyPr wrap="square" lIns="0" tIns="0" rIns="0" bIns="0" rtlCol="0" anchor="t"/>
          <a:lstStyle/>
          <a:p>
            <a:pPr algn="ctr" indent="0" marL="0">
              <a:buNone/>
            </a:pPr>
            <a:r>
              <a:rPr lang="en-US" sz="1100" dirty="0">
                <a:solidFill>
                  <a:schemeClr val="tx1"/>
                </a:solidFill>
              </a:rPr>
              <a:t>83.6</a:t>
            </a:r>
            <a:endParaRPr lang="en-US" sz="1100" dirty="0"/>
          </a:p>
        </p:txBody>
      </p:sp>
      <p:sp>
        <p:nvSpPr>
          <p:cNvPr id="28" name="type-bar-2-1"/>
          <p:cNvSpPr/>
          <p:nvPr/>
        </p:nvSpPr>
        <p:spPr>
          <a:xfrm>
            <a:off x="5452872" y="3296375"/>
            <a:ext cx="581558" cy="2052865"/>
          </a:xfrm>
          <a:prstGeom prst="rect">
            <a:avLst/>
          </a:prstGeom>
          <a:solidFill>
            <a:srgbClr val="0E7C86"/>
          </a:solidFill>
          <a:ln w="12700">
            <a:solidFill>
              <a:srgbClr val="0E7C86"/>
            </a:solidFill>
            <a:prstDash val="solid"/>
          </a:ln>
        </p:spPr>
      </p:sp>
      <p:sp>
        <p:nvSpPr>
          <p:cNvPr id="29" name="Text 27"/>
          <p:cNvSpPr txBox="1"/>
          <p:nvPr/>
        </p:nvSpPr>
        <p:spPr>
          <a:xfrm>
            <a:off x="5334000" y="3022055"/>
            <a:ext cx="819302" cy="237744"/>
          </a:xfrm>
          <a:prstGeom prst="rect">
            <a:avLst/>
          </a:prstGeom>
          <a:noFill/>
          <a:ln/>
        </p:spPr>
        <p:txBody>
          <a:bodyPr wrap="square" lIns="0" tIns="0" rIns="0" bIns="0" rtlCol="0" anchor="t"/>
          <a:lstStyle/>
          <a:p>
            <a:pPr algn="ctr" indent="0" marL="0">
              <a:buNone/>
            </a:pPr>
            <a:r>
              <a:rPr lang="en-US" sz="1100" dirty="0">
                <a:solidFill>
                  <a:schemeClr val="tx1"/>
                </a:solidFill>
              </a:rPr>
              <a:t>89.8</a:t>
            </a:r>
            <a:endParaRPr lang="en-US" sz="1100" dirty="0"/>
          </a:p>
        </p:txBody>
      </p:sp>
      <p:sp>
        <p:nvSpPr>
          <p:cNvPr id="30" name="Text 28"/>
          <p:cNvSpPr txBox="1"/>
          <p:nvPr/>
        </p:nvSpPr>
        <p:spPr>
          <a:xfrm>
            <a:off x="4541520" y="5422392"/>
            <a:ext cx="1767840" cy="274320"/>
          </a:xfrm>
          <a:prstGeom prst="rect">
            <a:avLst/>
          </a:prstGeom>
          <a:noFill/>
          <a:ln/>
        </p:spPr>
        <p:txBody>
          <a:bodyPr wrap="square" lIns="0" tIns="0" rIns="0" bIns="0" rtlCol="0" anchor="t"/>
          <a:lstStyle/>
          <a:p>
            <a:pPr algn="ctr" indent="0" marL="0">
              <a:buNone/>
            </a:pPr>
            <a:r>
              <a:rPr lang="en-US" sz="1300" b="1" dirty="0">
                <a:solidFill>
                  <a:schemeClr val="tx1"/>
                </a:solidFill>
              </a:rPr>
              <a:t>2 hours</a:t>
            </a:r>
            <a:endParaRPr lang="en-US" sz="1300" dirty="0"/>
          </a:p>
        </p:txBody>
      </p:sp>
      <p:sp>
        <p:nvSpPr>
          <p:cNvPr id="31" name="type-key-0"/>
          <p:cNvSpPr/>
          <p:nvPr/>
        </p:nvSpPr>
        <p:spPr>
          <a:xfrm>
            <a:off x="1005840" y="5852160"/>
            <a:ext cx="164592" cy="164592"/>
          </a:xfrm>
          <a:prstGeom prst="rect">
            <a:avLst/>
          </a:prstGeom>
          <a:solidFill>
            <a:srgbClr val="5B7DB1"/>
          </a:solidFill>
          <a:ln w="12700">
            <a:solidFill>
              <a:srgbClr val="5B7DB1"/>
            </a:solidFill>
            <a:prstDash val="solid"/>
          </a:ln>
        </p:spPr>
      </p:sp>
      <p:sp>
        <p:nvSpPr>
          <p:cNvPr id="32" name="Text 30"/>
          <p:cNvSpPr txBox="1"/>
          <p:nvPr/>
        </p:nvSpPr>
        <p:spPr>
          <a:xfrm>
            <a:off x="1234440" y="5797296"/>
            <a:ext cx="2651760" cy="274320"/>
          </a:xfrm>
          <a:prstGeom prst="rect">
            <a:avLst/>
          </a:prstGeom>
          <a:noFill/>
          <a:ln/>
        </p:spPr>
        <p:txBody>
          <a:bodyPr wrap="square" lIns="0" tIns="0" rIns="0" bIns="0" rtlCol="0" anchor="t"/>
          <a:lstStyle/>
          <a:p>
            <a:pPr indent="0" marL="0">
              <a:buNone/>
            </a:pPr>
            <a:r>
              <a:rPr lang="en-US" sz="1100" dirty="0">
                <a:solidFill>
                  <a:schemeClr val="tx1"/>
                </a:solidFill>
              </a:rPr>
              <a:t>Type 1 (87 people)</a:t>
            </a:r>
            <a:endParaRPr lang="en-US" sz="1100" dirty="0"/>
          </a:p>
        </p:txBody>
      </p:sp>
      <p:sp>
        <p:nvSpPr>
          <p:cNvPr id="33" name="type-key-1"/>
          <p:cNvSpPr/>
          <p:nvPr/>
        </p:nvSpPr>
        <p:spPr>
          <a:xfrm>
            <a:off x="3749040" y="5852160"/>
            <a:ext cx="164592" cy="164592"/>
          </a:xfrm>
          <a:prstGeom prst="rect">
            <a:avLst/>
          </a:prstGeom>
          <a:solidFill>
            <a:srgbClr val="0E7C86"/>
          </a:solidFill>
          <a:ln w="12700">
            <a:solidFill>
              <a:srgbClr val="0E7C86"/>
            </a:solidFill>
            <a:prstDash val="solid"/>
          </a:ln>
        </p:spPr>
      </p:sp>
      <p:sp>
        <p:nvSpPr>
          <p:cNvPr id="34" name="Text 32"/>
          <p:cNvSpPr txBox="1"/>
          <p:nvPr/>
        </p:nvSpPr>
        <p:spPr>
          <a:xfrm>
            <a:off x="3977640" y="5797296"/>
            <a:ext cx="2651760" cy="274320"/>
          </a:xfrm>
          <a:prstGeom prst="rect">
            <a:avLst/>
          </a:prstGeom>
          <a:noFill/>
          <a:ln/>
        </p:spPr>
        <p:txBody>
          <a:bodyPr wrap="square" lIns="0" tIns="0" rIns="0" bIns="0" rtlCol="0" anchor="t"/>
          <a:lstStyle/>
          <a:p>
            <a:pPr indent="0" marL="0">
              <a:buNone/>
            </a:pPr>
            <a:r>
              <a:rPr lang="en-US" sz="1100" dirty="0">
                <a:solidFill>
                  <a:schemeClr val="tx1"/>
                </a:solidFill>
              </a:rPr>
              <a:t>Type 2 (100 people)</a:t>
            </a:r>
            <a:endParaRPr lang="en-US" sz="1100" dirty="0"/>
          </a:p>
        </p:txBody>
      </p:sp>
      <p:graphicFrame>
        <p:nvGraphicFramePr>
          <p:cNvPr id="11" name="fairness"/>
          <p:cNvGraphicFramePr>
            <a:graphicFrameLocks noGrp="1"/>
          </p:cNvGraphicFramePr>
          <p:nvPr>
            <p:extLst>
              <p:ext uri="{D42A27DB-BD31-4B8C-83A1-F6EECF244321}">
                <p14:modId xmlns:p14="http://schemas.microsoft.com/office/powerpoint/2010/main" val="1579011935"/>
              </p:ext>
            </p:extLst>
          </p:nvPr>
        </p:nvGraphicFramePr>
        <p:xfrm>
          <a:off x="6675120" y="1463040"/>
          <a:ext cx="4937760" cy="914400"/>
        </p:xfrm>
        <a:graphic>
          <a:graphicData uri="http://schemas.openxmlformats.org/drawingml/2006/table">
            <a:tbl>
              <a:tblPr/>
              <a:tblGrid>
                <a:gridCol w="2377440"/>
                <a:gridCol w="1280160"/>
                <a:gridCol w="1280160"/>
              </a:tblGrid>
              <a:tr h="457200">
                <a:tc>
                  <a:txBody>
                    <a:bodyPr/>
                    <a:lstStyle/>
                    <a:p>
                      <a:pPr indent="0" marL="0">
                        <a:buNone/>
                      </a:pPr>
                      <a:r>
                        <a:rPr lang="en-US" sz="1300" b="1" dirty="0">
                          <a:solidFill>
                            <a:schemeClr val="bg1"/>
                          </a:solidFill>
                        </a:rPr>
                        <a:t>Group (Type 2 &amp; Type 1, Shanghai)</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2-h accuracy</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Calibration gap</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Women</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90.0%</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0.2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Men</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89.5%</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-0.8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Age &lt; 40</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92.5%</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0.2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Age 40–60</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89.4%</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-0.7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Age 60+</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89.4%</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-0.2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BMI &lt; 23</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89.4%</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-0.3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BMI 23–27.5</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89.1%</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-0.6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r h="457200">
                <a:tc>
                  <a:txBody>
                    <a:bodyPr/>
                    <a:lstStyle/>
                    <a:p>
                      <a:pPr indent="0" marL="0">
                        <a:buNone/>
                      </a:pPr>
                      <a:r>
                        <a:rPr lang="en-US" sz="1300" dirty="0">
                          <a:solidFill>
                            <a:schemeClr val="tx1"/>
                          </a:solidFill>
                        </a:rPr>
                        <a:t>BMI 27.5+</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94.8%</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c>
                  <a:txBody>
                    <a:bodyPr/>
                    <a:lstStyle/>
                    <a:p>
                      <a:pPr indent="0" marL="0">
                        <a:buNone/>
                      </a:pPr>
                      <a:r>
                        <a:rPr lang="en-US" sz="1300" dirty="0">
                          <a:solidFill>
                            <a:schemeClr val="tx1"/>
                          </a:solidFill>
                        </a:rPr>
                        <a:t>0.9 pts</a:t>
                      </a:r>
                      <a:endParaRPr lang="en-US" sz="1300" dirty="0"/>
                    </a:p>
                  </a:txBody>
                  <a:tcPr marL="91440" marR="91440" marT="45720" marB="45720">
                    <a:lnL w="6350" cap="flat" cmpd="sng" algn="ctr">
                      <a:solidFill>
                        <a:srgbClr val="EEF4F7"/>
                      </a:solidFill>
                      <a:prstDash val="solid"/>
                      <a:round/>
                      <a:headEnd type="none" w="med" len="med"/>
                      <a:tailEnd type="none" w="med" len="med"/>
                    </a:lnL>
                    <a:lnR w="6350" cap="flat" cmpd="sng" algn="ctr">
                      <a:solidFill>
                        <a:srgbClr val="EEF4F7"/>
                      </a:solidFill>
                      <a:prstDash val="solid"/>
                      <a:round/>
                      <a:headEnd type="none" w="med" len="med"/>
                      <a:tailEnd type="none" w="med" len="med"/>
                    </a:lnR>
                    <a:lnT w="6350" cap="flat" cmpd="sng" algn="ctr">
                      <a:solidFill>
                        <a:srgbClr val="EEF4F7"/>
                      </a:solidFill>
                      <a:prstDash val="solid"/>
                      <a:round/>
                      <a:headEnd type="none" w="med" len="med"/>
                      <a:tailEnd type="none" w="med" len="med"/>
                    </a:lnT>
                    <a:lnB w="6350" cap="flat" cmpd="sng" algn="ctr">
                      <a:solidFill>
                        <a:srgbClr val="EEF4F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What we learned by testing every idea</a:t>
            </a:r>
            <a:endParaRPr lang="en-US" sz="3000" dirty="0"/>
          </a:p>
        </p:txBody>
      </p:sp>
      <p:sp>
        <p:nvSpPr>
          <p:cNvPr id="3" name="helped"/>
          <p:cNvSpPr/>
          <p:nvPr/>
        </p:nvSpPr>
        <p:spPr>
          <a:xfrm>
            <a:off x="548640" y="1371600"/>
            <a:ext cx="5486400" cy="4572000"/>
          </a:xfrm>
          <a:prstGeom prst="roundRect">
            <a:avLst>
              <a:gd name="adj" fmla="val 2400"/>
            </a:avLst>
          </a:prstGeom>
          <a:solidFill>
            <a:schemeClr val="bg2"/>
          </a:solidFill>
          <a:ln w="12700">
            <a:solidFill>
              <a:schemeClr val="bg2"/>
            </a:solidFill>
            <a:prstDash val="solid"/>
          </a:ln>
        </p:spPr>
      </p:sp>
      <p:sp>
        <p:nvSpPr>
          <p:cNvPr id="4" name="helped-circle"/>
          <p:cNvSpPr/>
          <p:nvPr/>
        </p:nvSpPr>
        <p:spPr>
          <a:xfrm>
            <a:off x="777240" y="1554480"/>
            <a:ext cx="640080" cy="640080"/>
          </a:xfrm>
          <a:prstGeom prst="ellipse">
            <a:avLst/>
          </a:prstGeom>
          <a:solidFill>
            <a:schemeClr val="accent4"/>
          </a:solidFill>
          <a:ln w="12700">
            <a:solidFill>
              <a:schemeClr val="accent4"/>
            </a:solidFill>
            <a:prstDash val="solid"/>
          </a:ln>
        </p:spPr>
      </p:sp>
      <p:pic>
        <p:nvPicPr>
          <p:cNvPr id="5" name="helped-icon" descr="preencoded.png">    </p:cNvPr>
          <p:cNvPicPr>
            <a:picLocks noChangeAspect="1"/>
          </p:cNvPicPr>
          <p:nvPr/>
        </p:nvPicPr>
        <p:blipFill>
          <a:blip r:embed="rId1"/>
          <a:stretch>
            <a:fillRect/>
          </a:stretch>
        </p:blipFill>
        <p:spPr>
          <a:xfrm>
            <a:off x="930859" y="1708099"/>
            <a:ext cx="332842" cy="332842"/>
          </a:xfrm>
          <a:prstGeom prst="rect">
            <a:avLst/>
          </a:prstGeom>
        </p:spPr>
      </p:pic>
      <p:sp>
        <p:nvSpPr>
          <p:cNvPr id="6" name="Text 3"/>
          <p:cNvSpPr txBox="1"/>
          <p:nvPr/>
        </p:nvSpPr>
        <p:spPr>
          <a:xfrm>
            <a:off x="1600200" y="1600200"/>
            <a:ext cx="4114800" cy="548640"/>
          </a:xfrm>
          <a:prstGeom prst="rect">
            <a:avLst/>
          </a:prstGeom>
          <a:noFill/>
          <a:ln/>
        </p:spPr>
        <p:txBody>
          <a:bodyPr wrap="square" lIns="0" tIns="0" rIns="0" bIns="0" rtlCol="0" anchor="ctr"/>
          <a:lstStyle/>
          <a:p>
            <a:pPr indent="0" marL="0">
              <a:buNone/>
            </a:pPr>
            <a:r>
              <a:rPr lang="en-US" sz="2200" b="1" dirty="0">
                <a:solidFill>
                  <a:schemeClr val="accent4"/>
                </a:solidFill>
              </a:rPr>
              <a:t>Helped</a:t>
            </a:r>
            <a:endParaRPr lang="en-US" sz="2200" dirty="0"/>
          </a:p>
        </p:txBody>
      </p:sp>
      <p:sp>
        <p:nvSpPr>
          <p:cNvPr id="7" name="Text 4"/>
          <p:cNvSpPr txBox="1"/>
          <p:nvPr/>
        </p:nvSpPr>
        <p:spPr>
          <a:xfrm>
            <a:off x="777240" y="2331720"/>
            <a:ext cx="5029200" cy="34747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More diverse patients: 21 → 187 people from 4 countries</a:t>
            </a:r>
            <a:endParaRPr lang="en-US" sz="1700" dirty="0"/>
          </a:p>
          <a:p>
            <a:pPr marL="342900" indent="-342900">
              <a:spcAft>
                <a:spcPts val="1200"/>
              </a:spcAft>
              <a:buSzPct val="100000"/>
              <a:buChar char="•"/>
            </a:pPr>
            <a:r>
              <a:rPr lang="en-US" sz="1700" dirty="0">
                <a:solidFill>
                  <a:schemeClr val="tx1"/>
                </a:solidFill>
              </a:rPr>
              <a:t>Personal memory: "spikes at this time in the last 7 days"</a:t>
            </a:r>
            <a:endParaRPr lang="en-US" sz="1700" dirty="0"/>
          </a:p>
          <a:p>
            <a:pPr marL="342900" indent="-342900">
              <a:spcAft>
                <a:spcPts val="1200"/>
              </a:spcAft>
              <a:buSzPct val="100000"/>
              <a:buChar char="•"/>
            </a:pPr>
            <a:r>
              <a:rPr lang="en-US" sz="1700" dirty="0">
                <a:solidFill>
                  <a:schemeClr val="tx1"/>
                </a:solidFill>
              </a:rPr>
              <a:t>Cleaning the data (removing a future leak, fixing units)</a:t>
            </a:r>
            <a:endParaRPr lang="en-US" sz="1700" dirty="0"/>
          </a:p>
          <a:p>
            <a:pPr marL="342900" indent="-342900">
              <a:spcAft>
                <a:spcPts val="1200"/>
              </a:spcAft>
              <a:buSzPct val="100000"/>
              <a:buChar char="•"/>
            </a:pPr>
            <a:r>
              <a:rPr lang="en-US" sz="1700" dirty="0">
                <a:solidFill>
                  <a:schemeClr val="tx1"/>
                </a:solidFill>
              </a:rPr>
              <a:t>Shorter horizons for urgent alerts; safety-mode thresholds</a:t>
            </a:r>
            <a:endParaRPr lang="en-US" sz="1700" dirty="0"/>
          </a:p>
          <a:p>
            <a:pPr marL="342900" indent="-342900">
              <a:spcAft>
                <a:spcPts val="1200"/>
              </a:spcAft>
              <a:buSzPct val="100000"/>
              <a:buChar char="•"/>
            </a:pPr>
            <a:r>
              <a:rPr lang="en-US" sz="1700" dirty="0">
                <a:solidFill>
                  <a:schemeClr val="tx1"/>
                </a:solidFill>
              </a:rPr>
              <a:t>Type 2 data: the most accurate group (89.8% at 2 h)</a:t>
            </a:r>
            <a:endParaRPr lang="en-US" sz="1700" dirty="0"/>
          </a:p>
        </p:txBody>
      </p:sp>
      <p:sp>
        <p:nvSpPr>
          <p:cNvPr id="8" name="nothelp"/>
          <p:cNvSpPr/>
          <p:nvPr/>
        </p:nvSpPr>
        <p:spPr>
          <a:xfrm>
            <a:off x="6217920" y="1371600"/>
            <a:ext cx="5394960" cy="4572000"/>
          </a:xfrm>
          <a:prstGeom prst="roundRect">
            <a:avLst>
              <a:gd name="adj" fmla="val 2400"/>
            </a:avLst>
          </a:prstGeom>
          <a:solidFill>
            <a:schemeClr val="bg2"/>
          </a:solidFill>
          <a:ln w="12700">
            <a:solidFill>
              <a:schemeClr val="bg2"/>
            </a:solidFill>
            <a:prstDash val="solid"/>
          </a:ln>
        </p:spPr>
      </p:sp>
      <p:sp>
        <p:nvSpPr>
          <p:cNvPr id="9" name="nothelp-circle"/>
          <p:cNvSpPr/>
          <p:nvPr/>
        </p:nvSpPr>
        <p:spPr>
          <a:xfrm>
            <a:off x="6446520" y="1554480"/>
            <a:ext cx="640080" cy="640080"/>
          </a:xfrm>
          <a:prstGeom prst="ellipse">
            <a:avLst/>
          </a:prstGeom>
          <a:solidFill>
            <a:schemeClr val="accent2"/>
          </a:solidFill>
          <a:ln w="12700">
            <a:solidFill>
              <a:schemeClr val="accent2"/>
            </a:solidFill>
            <a:prstDash val="solid"/>
          </a:ln>
        </p:spPr>
      </p:sp>
      <p:pic>
        <p:nvPicPr>
          <p:cNvPr id="10" name="nothelp-icon" descr="preencoded.png">    </p:cNvPr>
          <p:cNvPicPr>
            <a:picLocks noChangeAspect="1"/>
          </p:cNvPicPr>
          <p:nvPr/>
        </p:nvPicPr>
        <p:blipFill>
          <a:blip r:embed="rId2"/>
          <a:stretch>
            <a:fillRect/>
          </a:stretch>
        </p:blipFill>
        <p:spPr>
          <a:xfrm>
            <a:off x="6600139" y="1708099"/>
            <a:ext cx="332842" cy="332842"/>
          </a:xfrm>
          <a:prstGeom prst="rect">
            <a:avLst/>
          </a:prstGeom>
        </p:spPr>
      </p:pic>
      <p:sp>
        <p:nvSpPr>
          <p:cNvPr id="11" name="Text 7"/>
          <p:cNvSpPr txBox="1"/>
          <p:nvPr/>
        </p:nvSpPr>
        <p:spPr>
          <a:xfrm>
            <a:off x="7269480" y="1600200"/>
            <a:ext cx="4206240" cy="548640"/>
          </a:xfrm>
          <a:prstGeom prst="rect">
            <a:avLst/>
          </a:prstGeom>
          <a:noFill/>
          <a:ln/>
        </p:spPr>
        <p:txBody>
          <a:bodyPr wrap="square" lIns="0" tIns="0" rIns="0" bIns="0" rtlCol="0" anchor="ctr"/>
          <a:lstStyle/>
          <a:p>
            <a:pPr indent="0" marL="0">
              <a:buNone/>
            </a:pPr>
            <a:r>
              <a:rPr lang="en-US" sz="2000" b="1" dirty="0">
                <a:solidFill>
                  <a:schemeClr val="accent2"/>
                </a:solidFill>
              </a:rPr>
              <a:t>Did not help (measured, not guessed)</a:t>
            </a:r>
            <a:endParaRPr lang="en-US" sz="2000" dirty="0"/>
          </a:p>
        </p:txBody>
      </p:sp>
      <p:sp>
        <p:nvSpPr>
          <p:cNvPr id="12" name="Text 8"/>
          <p:cNvSpPr txBox="1"/>
          <p:nvPr/>
        </p:nvSpPr>
        <p:spPr>
          <a:xfrm>
            <a:off x="6446520" y="2331720"/>
            <a:ext cx="4937760" cy="34747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Bigger / deeper models: they only memorise training patients*</a:t>
            </a:r>
            <a:endParaRPr lang="en-US" sz="1700" dirty="0"/>
          </a:p>
          <a:p>
            <a:pPr marL="342900" indent="-342900">
              <a:spcAft>
                <a:spcPts val="1200"/>
              </a:spcAft>
              <a:buSzPct val="100000"/>
              <a:buChar char="•"/>
            </a:pPr>
            <a:r>
              <a:rPr lang="en-US" sz="1700" dirty="0">
                <a:solidFill>
                  <a:schemeClr val="tx1"/>
                </a:solidFill>
              </a:rPr>
              <a:t>Even perfect knowledge of future meals: +0.2 points*</a:t>
            </a:r>
            <a:endParaRPr lang="en-US" sz="1700" dirty="0"/>
          </a:p>
          <a:p>
            <a:pPr marL="342900" indent="-342900">
              <a:spcAft>
                <a:spcPts val="1200"/>
              </a:spcAft>
              <a:buSzPct val="100000"/>
              <a:buChar char="•"/>
            </a:pPr>
            <a:r>
              <a:rPr lang="en-US" sz="1700" dirty="0">
                <a:solidFill>
                  <a:schemeClr val="tx1"/>
                </a:solidFill>
              </a:rPr>
              <a:t>Per-patient recalibration on day 1–3: no gain*</a:t>
            </a:r>
            <a:endParaRPr lang="en-US" sz="1700" dirty="0"/>
          </a:p>
          <a:p>
            <a:pPr marL="342900" indent="-342900">
              <a:spcAft>
                <a:spcPts val="1200"/>
              </a:spcAft>
              <a:buSzPct val="100000"/>
              <a:buChar char="•"/>
            </a:pPr>
            <a:r>
              <a:rPr lang="en-US" sz="1700" dirty="0">
                <a:solidFill>
                  <a:schemeClr val="tx1"/>
                </a:solidFill>
              </a:rPr>
              <a:t>EHR on top of CGM: +0.2 points in a patient's first day (not significant), ~0 after</a:t>
            </a:r>
            <a:endParaRPr lang="en-US" sz="1700" dirty="0"/>
          </a:p>
          <a:p>
            <a:pPr marL="342900" indent="-342900">
              <a:spcAft>
                <a:spcPts val="1200"/>
              </a:spcAft>
              <a:buSzPct val="100000"/>
              <a:buChar char="•"/>
            </a:pPr>
            <a:r>
              <a:rPr lang="en-US" sz="1700" dirty="0">
                <a:solidFill>
                  <a:schemeClr val="tx1"/>
                </a:solidFill>
              </a:rPr>
              <a:t>Extra wearable features (steps, calories): +0.0 points*</a:t>
            </a:r>
            <a:endParaRPr lang="en-US" sz="1700" dirty="0"/>
          </a:p>
        </p:txBody>
      </p:sp>
      <p:sp>
        <p:nvSpPr>
          <p:cNvPr id="13" name="Text 9"/>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 measured in the earlier 87-person study (v6); the other results are from the 187-person v7 evaluation</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Where the remaining error comes from</a:t>
            </a:r>
            <a:endParaRPr lang="en-US" sz="3000" dirty="0"/>
          </a:p>
        </p:txBody>
      </p:sp>
      <p:sp>
        <p:nvSpPr>
          <p:cNvPr id="3" name="err0"/>
          <p:cNvSpPr/>
          <p:nvPr/>
        </p:nvSpPr>
        <p:spPr>
          <a:xfrm>
            <a:off x="548640" y="1417320"/>
            <a:ext cx="3566160" cy="39776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822960" y="164592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49.9%</a:t>
            </a:r>
            <a:endParaRPr lang="en-US" sz="4800" dirty="0"/>
          </a:p>
        </p:txBody>
      </p:sp>
      <p:sp>
        <p:nvSpPr>
          <p:cNvPr id="5" name="Text 3"/>
          <p:cNvSpPr txBox="1"/>
          <p:nvPr/>
        </p:nvSpPr>
        <p:spPr>
          <a:xfrm>
            <a:off x="822960" y="2651760"/>
            <a:ext cx="3017520" cy="1280160"/>
          </a:xfrm>
          <a:prstGeom prst="rect">
            <a:avLst/>
          </a:prstGeom>
          <a:noFill/>
          <a:ln/>
        </p:spPr>
        <p:txBody>
          <a:bodyPr wrap="square" lIns="0" tIns="0" rIns="0" bIns="0" rtlCol="0" anchor="t"/>
          <a:lstStyle/>
          <a:p>
            <a:pPr indent="0" marL="0">
              <a:buNone/>
            </a:pPr>
            <a:r>
              <a:rPr lang="en-US" sz="1600" dirty="0">
                <a:solidFill>
                  <a:schemeClr val="tx2"/>
                </a:solidFill>
              </a:rPr>
              <a:t>of 2-hour errors happen where the actual peak was 162–198 mg/dL, i.e. within ±10 % of 180</a:t>
            </a:r>
            <a:endParaRPr lang="en-US" sz="1600" dirty="0"/>
          </a:p>
        </p:txBody>
      </p:sp>
      <p:sp>
        <p:nvSpPr>
          <p:cNvPr id="6" name="Text 4"/>
          <p:cNvSpPr txBox="1"/>
          <p:nvPr/>
        </p:nvSpPr>
        <p:spPr>
          <a:xfrm>
            <a:off x="822960" y="4069080"/>
            <a:ext cx="3017520" cy="1188720"/>
          </a:xfrm>
          <a:prstGeom prst="rect">
            <a:avLst/>
          </a:prstGeom>
          <a:noFill/>
          <a:ln/>
        </p:spPr>
        <p:txBody>
          <a:bodyPr wrap="square" lIns="0" tIns="0" rIns="0" bIns="0" rtlCol="0" anchor="t"/>
          <a:lstStyle/>
          <a:p>
            <a:pPr indent="0" marL="0">
              <a:buNone/>
            </a:pPr>
            <a:r>
              <a:rPr lang="en-US" sz="1200" dirty="0">
                <a:solidFill>
                  <a:schemeClr val="accent6"/>
                </a:solidFill>
              </a:rPr>
              <a:t>Accuracy 90.2% on clear outcomes vs 66.8% near 180 (530,807 moments, 187 people)</a:t>
            </a:r>
            <a:endParaRPr lang="en-US" sz="1200" dirty="0"/>
          </a:p>
        </p:txBody>
      </p:sp>
      <p:sp>
        <p:nvSpPr>
          <p:cNvPr id="7" name="err1"/>
          <p:cNvSpPr/>
          <p:nvPr/>
        </p:nvSpPr>
        <p:spPr>
          <a:xfrm>
            <a:off x="4343400" y="1417320"/>
            <a:ext cx="3566160" cy="3977640"/>
          </a:xfrm>
          <a:prstGeom prst="roundRect">
            <a:avLst>
              <a:gd name="adj" fmla="val 3077"/>
            </a:avLst>
          </a:prstGeom>
          <a:solidFill>
            <a:schemeClr val="bg2"/>
          </a:solidFill>
          <a:ln w="12700">
            <a:solidFill>
              <a:schemeClr val="bg2"/>
            </a:solidFill>
            <a:prstDash val="solid"/>
          </a:ln>
        </p:spPr>
      </p:sp>
      <p:sp>
        <p:nvSpPr>
          <p:cNvPr id="8" name="Text 6"/>
          <p:cNvSpPr txBox="1"/>
          <p:nvPr/>
        </p:nvSpPr>
        <p:spPr>
          <a:xfrm>
            <a:off x="4617720" y="1645920"/>
            <a:ext cx="3017520" cy="91440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13.9%</a:t>
            </a:r>
            <a:endParaRPr lang="en-US" sz="4800" dirty="0"/>
          </a:p>
        </p:txBody>
      </p:sp>
      <p:sp>
        <p:nvSpPr>
          <p:cNvPr id="9" name="Text 7"/>
          <p:cNvSpPr txBox="1"/>
          <p:nvPr/>
        </p:nvSpPr>
        <p:spPr>
          <a:xfrm>
            <a:off x="4617720" y="2651760"/>
            <a:ext cx="3017520" cy="1280160"/>
          </a:xfrm>
          <a:prstGeom prst="rect">
            <a:avLst/>
          </a:prstGeom>
          <a:noFill/>
          <a:ln/>
        </p:spPr>
        <p:txBody>
          <a:bodyPr wrap="square" lIns="0" tIns="0" rIns="0" bIns="0" rtlCol="0" anchor="t"/>
          <a:lstStyle/>
          <a:p>
            <a:pPr indent="0" marL="0">
              <a:buNone/>
            </a:pPr>
            <a:r>
              <a:rPr lang="en-US" sz="1600" dirty="0">
                <a:solidFill>
                  <a:schemeClr val="tx2"/>
                </a:solidFill>
              </a:rPr>
              <a:t>mean difference between CGM and fingerstick readings (MARD): the reference itself is noisy</a:t>
            </a:r>
            <a:endParaRPr lang="en-US" sz="1600" dirty="0"/>
          </a:p>
        </p:txBody>
      </p:sp>
      <p:sp>
        <p:nvSpPr>
          <p:cNvPr id="10" name="Text 8"/>
          <p:cNvSpPr txBox="1"/>
          <p:nvPr/>
        </p:nvSpPr>
        <p:spPr>
          <a:xfrm>
            <a:off x="4617720" y="4069080"/>
            <a:ext cx="3017520" cy="1188720"/>
          </a:xfrm>
          <a:prstGeom prst="rect">
            <a:avLst/>
          </a:prstGeom>
          <a:noFill/>
          <a:ln/>
        </p:spPr>
        <p:txBody>
          <a:bodyPr wrap="square" lIns="0" tIns="0" rIns="0" bIns="0" rtlCol="0" anchor="t"/>
          <a:lstStyle/>
          <a:p>
            <a:pPr indent="0" marL="0">
              <a:buNone/>
            </a:pPr>
            <a:r>
              <a:rPr lang="en-US" sz="1200" dirty="0">
                <a:solidFill>
                  <a:schemeClr val="accent6"/>
                </a:solidFill>
              </a:rPr>
              <a:t>4,010 pairs from 98 Shanghai patients; median 11.0%; CGM reads 7.0% low</a:t>
            </a:r>
            <a:endParaRPr lang="en-US" sz="1200" dirty="0"/>
          </a:p>
        </p:txBody>
      </p:sp>
      <p:sp>
        <p:nvSpPr>
          <p:cNvPr id="11" name="err2"/>
          <p:cNvSpPr/>
          <p:nvPr/>
        </p:nvSpPr>
        <p:spPr>
          <a:xfrm>
            <a:off x="8138160" y="1417320"/>
            <a:ext cx="3566160" cy="3977640"/>
          </a:xfrm>
          <a:prstGeom prst="roundRect">
            <a:avLst>
              <a:gd name="adj" fmla="val 3077"/>
            </a:avLst>
          </a:prstGeom>
          <a:solidFill>
            <a:schemeClr val="bg2"/>
          </a:solidFill>
          <a:ln w="12700">
            <a:solidFill>
              <a:schemeClr val="bg2"/>
            </a:solidFill>
            <a:prstDash val="solid"/>
          </a:ln>
        </p:spPr>
      </p:sp>
      <p:sp>
        <p:nvSpPr>
          <p:cNvPr id="12" name="Text 10"/>
          <p:cNvSpPr txBox="1"/>
          <p:nvPr/>
        </p:nvSpPr>
        <p:spPr>
          <a:xfrm>
            <a:off x="8412480" y="1645920"/>
            <a:ext cx="301752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36.8%</a:t>
            </a:r>
            <a:endParaRPr lang="en-US" sz="4800" dirty="0"/>
          </a:p>
        </p:txBody>
      </p:sp>
      <p:sp>
        <p:nvSpPr>
          <p:cNvPr id="13" name="Text 11"/>
          <p:cNvSpPr txBox="1"/>
          <p:nvPr/>
        </p:nvSpPr>
        <p:spPr>
          <a:xfrm>
            <a:off x="8412480" y="2651760"/>
            <a:ext cx="3017520" cy="1280160"/>
          </a:xfrm>
          <a:prstGeom prst="rect">
            <a:avLst/>
          </a:prstGeom>
          <a:noFill/>
          <a:ln/>
        </p:spPr>
        <p:txBody>
          <a:bodyPr wrap="square" lIns="0" tIns="0" rIns="0" bIns="0" rtlCol="0" anchor="t"/>
          <a:lstStyle/>
          <a:p>
            <a:pPr indent="0" marL="0">
              <a:buNone/>
            </a:pPr>
            <a:r>
              <a:rPr lang="en-US" sz="1600" dirty="0">
                <a:solidFill>
                  <a:schemeClr val="tx2"/>
                </a:solidFill>
              </a:rPr>
              <a:t>of serious spike episodes get no warning 30–120 min ahead</a:t>
            </a:r>
            <a:endParaRPr lang="en-US" sz="1600" dirty="0"/>
          </a:p>
        </p:txBody>
      </p:sp>
      <p:sp>
        <p:nvSpPr>
          <p:cNvPr id="14" name="Text 12"/>
          <p:cNvSpPr txBox="1"/>
          <p:nvPr/>
        </p:nvSpPr>
        <p:spPr>
          <a:xfrm>
            <a:off x="8412480" y="4069080"/>
            <a:ext cx="3017520" cy="1188720"/>
          </a:xfrm>
          <a:prstGeom prst="rect">
            <a:avLst/>
          </a:prstGeom>
          <a:noFill/>
          <a:ln/>
        </p:spPr>
        <p:txBody>
          <a:bodyPr wrap="square" lIns="0" tIns="0" rIns="0" bIns="0" rtlCol="0" anchor="t"/>
          <a:lstStyle/>
          <a:p>
            <a:pPr indent="0" marL="0">
              <a:buNone/>
            </a:pPr>
            <a:r>
              <a:rPr lang="en-US" sz="1200" dirty="0">
                <a:solidFill>
                  <a:schemeClr val="accent6"/>
                </a:solidFill>
              </a:rPr>
              <a:t>3,495 of 9,503 episodes (peak ≥ 250 or ≥ 3 consecutive 15-min bins &gt; 180)</a:t>
            </a:r>
            <a:endParaRPr lang="en-US" sz="1200" dirty="0"/>
          </a:p>
        </p:txBody>
      </p:sp>
      <p:sp>
        <p:nvSpPr>
          <p:cNvPr id="15" name="Text 13"/>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200" dirty="0">
                <a:solidFill>
                  <a:schemeClr val="tx1"/>
                </a:solidFill>
              </a:rPr>
              <a:t>Calibration on held-out people is good (ECE 0.15 / 0.34 / 0.38 % at 30 min / 1 h / 2 h). "Near 180" uses the actual outcome, so it splits the error rather than selecting cases in advance. Fingerstick meters have their own error.</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New information, tested once on 37 people locked away in advance</a:t>
            </a:r>
            <a:endParaRPr lang="en-US" sz="3000" dirty="0"/>
          </a:p>
        </p:txBody>
      </p:sp>
      <p:sp>
        <p:nvSpPr>
          <p:cNvPr id="3" name="v9-0"/>
          <p:cNvSpPr/>
          <p:nvPr/>
        </p:nvSpPr>
        <p:spPr>
          <a:xfrm>
            <a:off x="548640" y="1371600"/>
            <a:ext cx="5394960" cy="2926080"/>
          </a:xfrm>
          <a:prstGeom prst="roundRect">
            <a:avLst>
              <a:gd name="adj" fmla="val 3750"/>
            </a:avLst>
          </a:prstGeom>
          <a:solidFill>
            <a:schemeClr val="bg2"/>
          </a:solidFill>
          <a:ln w="12700">
            <a:solidFill>
              <a:schemeClr val="bg2"/>
            </a:solidFill>
            <a:prstDash val="solid"/>
          </a:ln>
        </p:spPr>
      </p:sp>
      <p:sp>
        <p:nvSpPr>
          <p:cNvPr id="4" name="Text 2"/>
          <p:cNvSpPr txBox="1"/>
          <p:nvPr/>
        </p:nvSpPr>
        <p:spPr>
          <a:xfrm>
            <a:off x="822960" y="1554480"/>
            <a:ext cx="4846320" cy="457200"/>
          </a:xfrm>
          <a:prstGeom prst="rect">
            <a:avLst/>
          </a:prstGeom>
          <a:noFill/>
          <a:ln/>
        </p:spPr>
        <p:txBody>
          <a:bodyPr wrap="square" lIns="0" tIns="0" rIns="0" bIns="0" rtlCol="0" anchor="t"/>
          <a:lstStyle/>
          <a:p>
            <a:pPr indent="0" marL="0">
              <a:buNone/>
            </a:pPr>
            <a:r>
              <a:rPr lang="en-US" sz="2000" b="1" dirty="0">
                <a:solidFill>
                  <a:schemeClr val="accent1"/>
                </a:solidFill>
              </a:rPr>
              <a:t>Prediction (2 h)</a:t>
            </a:r>
            <a:endParaRPr lang="en-US" sz="2000" dirty="0"/>
          </a:p>
        </p:txBody>
      </p:sp>
      <p:sp>
        <p:nvSpPr>
          <p:cNvPr id="5" name="Text 3"/>
          <p:cNvSpPr txBox="1"/>
          <p:nvPr/>
        </p:nvSpPr>
        <p:spPr>
          <a:xfrm>
            <a:off x="822960" y="2148840"/>
            <a:ext cx="493776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Accuracy 85.24% → 85.33% (change within noise)</a:t>
            </a:r>
            <a:endParaRPr lang="en-US" sz="1600" dirty="0"/>
          </a:p>
          <a:p>
            <a:pPr marL="342900" indent="-342900">
              <a:spcAft>
                <a:spcPts val="1000"/>
              </a:spcAft>
              <a:buSzPct val="100000"/>
              <a:buChar char="•"/>
            </a:pPr>
            <a:r>
              <a:rPr lang="en-US" sz="1600" dirty="0">
                <a:solidFill>
                  <a:schemeClr val="tx1"/>
                </a:solidFill>
              </a:rPr>
              <a:t>Ranking (AUC) 0.9154 → 0.9167: +0.0013, significant</a:t>
            </a:r>
            <a:endParaRPr lang="en-US" sz="1600" dirty="0"/>
          </a:p>
          <a:p>
            <a:pPr marL="342900" indent="-342900">
              <a:spcAft>
                <a:spcPts val="1000"/>
              </a:spcAft>
              <a:buSzPct val="100000"/>
              <a:buChar char="•"/>
            </a:pPr>
            <a:r>
              <a:rPr lang="en-US" sz="1600" dirty="0">
                <a:solidFill>
                  <a:schemeClr val="tx1"/>
                </a:solidFill>
              </a:rPr>
              <a:t>OhioT1DM external 83.72% → 83.98%</a:t>
            </a:r>
            <a:endParaRPr lang="en-US" sz="1600" dirty="0"/>
          </a:p>
          <a:p>
            <a:pPr marL="342900" indent="-342900">
              <a:spcAft>
                <a:spcPts val="1000"/>
              </a:spcAft>
              <a:buSzPct val="100000"/>
              <a:buChar char="•"/>
            </a:pPr>
            <a:r>
              <a:rPr lang="en-US" sz="1600" dirty="0">
                <a:solidFill>
                  <a:schemeClr val="tx1"/>
                </a:solidFill>
              </a:rPr>
              <a:t>Type 2 90.41% → 90.37%</a:t>
            </a:r>
            <a:endParaRPr lang="en-US" sz="1600" dirty="0"/>
          </a:p>
        </p:txBody>
      </p:sp>
      <p:sp>
        <p:nvSpPr>
          <p:cNvPr id="6" name="v9-1"/>
          <p:cNvSpPr/>
          <p:nvPr/>
        </p:nvSpPr>
        <p:spPr>
          <a:xfrm>
            <a:off x="6217920" y="1371600"/>
            <a:ext cx="5394960" cy="2926080"/>
          </a:xfrm>
          <a:prstGeom prst="roundRect">
            <a:avLst>
              <a:gd name="adj" fmla="val 3750"/>
            </a:avLst>
          </a:prstGeom>
          <a:solidFill>
            <a:schemeClr val="bg2"/>
          </a:solidFill>
          <a:ln w="12700">
            <a:solidFill>
              <a:schemeClr val="bg2"/>
            </a:solidFill>
            <a:prstDash val="solid"/>
          </a:ln>
        </p:spPr>
      </p:sp>
      <p:sp>
        <p:nvSpPr>
          <p:cNvPr id="7" name="Text 5"/>
          <p:cNvSpPr txBox="1"/>
          <p:nvPr/>
        </p:nvSpPr>
        <p:spPr>
          <a:xfrm>
            <a:off x="6492240" y="1554480"/>
            <a:ext cx="4846320" cy="457200"/>
          </a:xfrm>
          <a:prstGeom prst="rect">
            <a:avLst/>
          </a:prstGeom>
          <a:noFill/>
          <a:ln/>
        </p:spPr>
        <p:txBody>
          <a:bodyPr wrap="square" lIns="0" tIns="0" rIns="0" bIns="0" rtlCol="0" anchor="t"/>
          <a:lstStyle/>
          <a:p>
            <a:pPr indent="0" marL="0">
              <a:buNone/>
            </a:pPr>
            <a:r>
              <a:rPr lang="en-US" sz="2000" b="1" dirty="0">
                <a:solidFill>
                  <a:schemeClr val="accent4"/>
                </a:solidFill>
              </a:rPr>
              <a:t>Alerts (serious spikes)</a:t>
            </a:r>
            <a:endParaRPr lang="en-US" sz="2000" dirty="0"/>
          </a:p>
        </p:txBody>
      </p:sp>
      <p:sp>
        <p:nvSpPr>
          <p:cNvPr id="8" name="Text 6"/>
          <p:cNvSpPr txBox="1"/>
          <p:nvPr/>
        </p:nvSpPr>
        <p:spPr>
          <a:xfrm>
            <a:off x="6492240" y="2148840"/>
            <a:ext cx="493776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Warned 30–120 min ahead: 1,526 → 1,569 of 2,515 episodes</a:t>
            </a:r>
            <a:endParaRPr lang="en-US" sz="1600" dirty="0"/>
          </a:p>
          <a:p>
            <a:pPr marL="342900" indent="-342900">
              <a:spcAft>
                <a:spcPts val="1000"/>
              </a:spcAft>
              <a:buSzPct val="100000"/>
              <a:buChar char="•"/>
            </a:pPr>
            <a:r>
              <a:rPr lang="en-US" sz="1600" dirty="0">
                <a:solidFill>
                  <a:schemeClr val="tx1"/>
                </a:solidFill>
              </a:rPr>
              <a:t>False alerts per patient-day 1.46 → 1.33</a:t>
            </a:r>
            <a:endParaRPr lang="en-US" sz="1600" dirty="0"/>
          </a:p>
          <a:p>
            <a:pPr marL="342900" indent="-342900">
              <a:spcAft>
                <a:spcPts val="1000"/>
              </a:spcAft>
              <a:buSzPct val="100000"/>
              <a:buChar char="•"/>
            </a:pPr>
            <a:r>
              <a:rPr lang="en-US" sz="1600" dirty="0">
                <a:solidFill>
                  <a:schemeClr val="tx1"/>
                </a:solidFill>
              </a:rPr>
              <a:t>All alerts per day 8.6 → 3.7: warns only while glucose is still in range</a:t>
            </a:r>
            <a:endParaRPr lang="en-US" sz="1600" dirty="0"/>
          </a:p>
        </p:txBody>
      </p:sp>
      <p:sp>
        <p:nvSpPr>
          <p:cNvPr id="9" name="Text 7"/>
          <p:cNvSpPr txBox="1"/>
          <p:nvPr/>
        </p:nvSpPr>
        <p:spPr>
          <a:xfrm>
            <a:off x="548640" y="4572000"/>
            <a:ext cx="11064240" cy="1005840"/>
          </a:xfrm>
          <a:prstGeom prst="rect">
            <a:avLst/>
          </a:prstGeom>
          <a:noFill/>
          <a:ln/>
        </p:spPr>
        <p:txBody>
          <a:bodyPr wrap="square" lIns="0" tIns="0" rIns="0" bIns="0" rtlCol="0" anchor="t"/>
          <a:lstStyle/>
          <a:p>
            <a:pPr indent="0" marL="0">
              <a:buNone/>
            </a:pPr>
            <a:r>
              <a:rPr lang="en-US" sz="1400" b="1" dirty="0">
                <a:solidFill>
                  <a:schemeClr val="tx2"/>
                </a:solidFill>
              </a:rPr>
              <a:t>Tested: </a:t>
            </a:r>
            <a:pPr indent="0" marL="0">
              <a:buNone/>
            </a:pPr>
            <a:r>
              <a:rPr lang="en-US" sz="1400" dirty="0">
                <a:solidFill>
                  <a:schemeClr val="tx1"/>
                </a:solidFill>
              </a:rPr>
              <a:t>longer personal history, recorded meals and tablets, multi-window trends (all known at prediction time). </a:t>
            </a:r>
            <a:pPr indent="0" marL="0">
              <a:buNone/>
            </a:pPr>
            <a:r>
              <a:rPr lang="en-US" sz="1400" dirty="0">
                <a:solidFill>
                  <a:schemeClr val="tx1"/>
                </a:solidFill>
              </a:rPr>
              <a:t>Every choice was made on 150 development people; the 37 test people were scored once. </a:t>
            </a:r>
            <a:pPr indent="0" marL="0">
              <a:buNone/>
            </a:pPr>
            <a:r>
              <a:rPr lang="en-US" sz="1400" dirty="0">
                <a:solidFill>
                  <a:schemeClr val="accent6"/>
                </a:solidFill>
              </a:rPr>
              <a:t>Served: v9 2-hour model + early-warning policy; 30 min / 1 h unchanged. No open Indian Type 2 CGM dataset was available.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What the doctor sees</a:t>
            </a:r>
            <a:endParaRPr lang="en-US" sz="3000" dirty="0"/>
          </a:p>
        </p:txBody>
      </p:sp>
      <p:pic>
        <p:nvPicPr>
          <p:cNvPr id="3" name="dashboard" descr="/Users/santhoshkorra/Downloads/project_happiness/docs/dashboard.png">    </p:cNvPr>
          <p:cNvPicPr>
            <a:picLocks noChangeAspect="1"/>
          </p:cNvPicPr>
          <p:nvPr/>
        </p:nvPicPr>
        <p:blipFill>
          <a:blip r:embed="rId1"/>
          <a:srcRect l="0" r="0" t="0" b="0"/>
          <a:stretch/>
        </p:blipFill>
        <p:spPr>
          <a:xfrm>
            <a:off x="548640" y="1325880"/>
            <a:ext cx="7680960" cy="4800600"/>
          </a:xfrm>
          <a:prstGeom prst="rect">
            <a:avLst/>
          </a:prstGeom>
        </p:spPr>
      </p:pic>
      <p:sp>
        <p:nvSpPr>
          <p:cNvPr id="4" name="Text 1"/>
          <p:cNvSpPr txBox="1"/>
          <p:nvPr/>
        </p:nvSpPr>
        <p:spPr>
          <a:xfrm>
            <a:off x="8503920" y="1463040"/>
            <a:ext cx="3108960" cy="4572000"/>
          </a:xfrm>
          <a:prstGeom prst="rect">
            <a:avLst/>
          </a:prstGeom>
          <a:noFill/>
          <a:ln/>
        </p:spPr>
        <p:txBody>
          <a:bodyPr wrap="square" lIns="0" tIns="0" rIns="0" bIns="0" rtlCol="0" anchor="t"/>
          <a:lstStyle/>
          <a:p>
            <a:pPr indent="0" marL="0">
              <a:buNone/>
            </a:pPr>
            <a:r>
              <a:rPr lang="en-US" sz="1400" b="1" dirty="0">
                <a:solidFill>
                  <a:schemeClr val="tx2"/>
                </a:solidFill>
              </a:rPr>
              <a:t>Patient input</a:t>
            </a:r>
            <a:endParaRPr lang="en-US" sz="1400" dirty="0"/>
          </a:p>
          <a:p>
            <a:pPr indent="0" marL="0">
              <a:buNone/>
            </a:pPr>
            <a:r>
              <a:rPr lang="en-US" sz="1400" dirty="0">
                <a:solidFill>
                  <a:schemeClr val="tx1"/>
                </a:solidFill>
              </a:rPr>
              <a:t>EHR, labs, CGM chart, data completeness</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tx2"/>
                </a:solidFill>
              </a:rPr>
              <a:t>Digital twin &amp; AI prediction</a:t>
            </a:r>
            <a:endParaRPr lang="en-US" sz="1400" dirty="0"/>
          </a:p>
          <a:p>
            <a:pPr indent="0" marL="0">
              <a:buNone/>
            </a:pPr>
            <a:r>
              <a:rPr lang="en-US" sz="1400" dirty="0">
                <a:solidFill>
                  <a:schemeClr val="tx1"/>
                </a:solidFill>
              </a:rPr>
              <a:t>Live probability from FastAPI, early warning</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tx2"/>
                </a:solidFill>
              </a:rPr>
              <a:t>Daily context (what-if)</a:t>
            </a:r>
            <a:endParaRPr lang="en-US" sz="1400" dirty="0"/>
          </a:p>
          <a:p>
            <a:pPr indent="0" marL="0">
              <a:buNone/>
            </a:pPr>
            <a:r>
              <a:rPr lang="en-US" sz="1400" dirty="0">
                <a:solidFill>
                  <a:schemeClr val="tx1"/>
                </a:solidFill>
              </a:rPr>
              <a:t>Meal, insulin or tablets taken now</a:t>
            </a:r>
            <a:endParaRPr lang="en-US" sz="1400" dirty="0"/>
          </a:p>
          <a:p>
            <a:pPr indent="0" marL="0">
              <a:buNone/>
            </a:pPr>
            <a:r>
              <a:rPr lang="en-US" sz="1400" dirty="0">
                <a:solidFill>
                  <a:schemeClr val="tx1"/>
                </a:solidFill>
              </a:rPr>
              <a:t> </a:t>
            </a:r>
            <a:endParaRPr lang="en-US" sz="1400" dirty="0"/>
          </a:p>
          <a:p>
            <a:pPr indent="0" marL="0">
              <a:buNone/>
            </a:pPr>
            <a:r>
              <a:rPr lang="en-US" sz="1400" b="1" dirty="0">
                <a:solidFill>
                  <a:schemeClr val="tx2"/>
                </a:solidFill>
              </a:rPr>
              <a:t>Monitor · Trends · Reports · My data</a:t>
            </a:r>
            <a:endParaRPr lang="en-US" sz="1400" dirty="0"/>
          </a:p>
          <a:p>
            <a:pPr indent="0" marL="0">
              <a:buNone/>
            </a:pPr>
            <a:r>
              <a:rPr lang="en-US" sz="1400" dirty="0">
                <a:solidFill>
                  <a:schemeClr val="tx1"/>
                </a:solidFill>
              </a:rPr>
              <a:t>Replay, time in range, printable report, upload your own CGM file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Demo workflow: from patient to prediction in five steps</a:t>
            </a:r>
            <a:endParaRPr lang="en-US" sz="3000" dirty="0"/>
          </a:p>
        </p:txBody>
      </p:sp>
      <p:sp>
        <p:nvSpPr>
          <p:cNvPr id="3" name="flow0"/>
          <p:cNvSpPr/>
          <p:nvPr/>
        </p:nvSpPr>
        <p:spPr>
          <a:xfrm>
            <a:off x="731520" y="1417320"/>
            <a:ext cx="685800" cy="685800"/>
          </a:xfrm>
          <a:prstGeom prst="ellipse">
            <a:avLst/>
          </a:prstGeom>
          <a:solidFill>
            <a:schemeClr val="accent1"/>
          </a:solidFill>
          <a:ln w="12700">
            <a:solidFill>
              <a:schemeClr val="accent1"/>
            </a:solidFill>
            <a:prstDash val="solid"/>
          </a:ln>
        </p:spPr>
      </p:sp>
      <p:sp>
        <p:nvSpPr>
          <p:cNvPr id="4" name="Text 2"/>
          <p:cNvSpPr txBox="1"/>
          <p:nvPr/>
        </p:nvSpPr>
        <p:spPr>
          <a:xfrm>
            <a:off x="731520" y="14173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691640" y="1435608"/>
            <a:ext cx="3291840" cy="685800"/>
          </a:xfrm>
          <a:prstGeom prst="rect">
            <a:avLst/>
          </a:prstGeom>
          <a:noFill/>
          <a:ln/>
        </p:spPr>
        <p:txBody>
          <a:bodyPr wrap="square" lIns="0" tIns="0" rIns="0" bIns="0" rtlCol="0" anchor="ctr"/>
          <a:lstStyle/>
          <a:p>
            <a:pPr indent="0" marL="0">
              <a:buNone/>
            </a:pPr>
            <a:r>
              <a:rPr lang="en-US" sz="1900" b="1" dirty="0">
                <a:solidFill>
                  <a:schemeClr val="tx2"/>
                </a:solidFill>
              </a:rPr>
              <a:t>Select a patient</a:t>
            </a:r>
            <a:endParaRPr lang="en-US" sz="1900" dirty="0"/>
          </a:p>
        </p:txBody>
      </p:sp>
      <p:sp>
        <p:nvSpPr>
          <p:cNvPr id="6" name="Text 4"/>
          <p:cNvSpPr txBox="1"/>
          <p:nvPr/>
        </p:nvSpPr>
        <p:spPr>
          <a:xfrm>
            <a:off x="4937760" y="1435608"/>
            <a:ext cx="6675120" cy="685800"/>
          </a:xfrm>
          <a:prstGeom prst="rect">
            <a:avLst/>
          </a:prstGeom>
          <a:noFill/>
          <a:ln/>
        </p:spPr>
        <p:txBody>
          <a:bodyPr wrap="square" lIns="0" tIns="0" rIns="0" bIns="0" rtlCol="0" anchor="ctr"/>
          <a:lstStyle/>
          <a:p>
            <a:pPr indent="0" marL="0">
              <a:buNone/>
            </a:pPr>
            <a:r>
              <a:rPr lang="en-US" sz="1500" dirty="0">
                <a:solidFill>
                  <a:schemeClr val="tx1"/>
                </a:solidFill>
              </a:rPr>
              <a:t>30 open-data demo patients (Type 1 and Type 2) or your own uploaded CGM file</a:t>
            </a:r>
            <a:endParaRPr lang="en-US" sz="1500" dirty="0"/>
          </a:p>
        </p:txBody>
      </p:sp>
      <p:sp>
        <p:nvSpPr>
          <p:cNvPr id="7" name="flow1"/>
          <p:cNvSpPr/>
          <p:nvPr/>
        </p:nvSpPr>
        <p:spPr>
          <a:xfrm>
            <a:off x="731520" y="2359152"/>
            <a:ext cx="685800" cy="685800"/>
          </a:xfrm>
          <a:prstGeom prst="ellipse">
            <a:avLst/>
          </a:prstGeom>
          <a:solidFill>
            <a:schemeClr val="accent1"/>
          </a:solidFill>
          <a:ln w="12700">
            <a:solidFill>
              <a:schemeClr val="accent1"/>
            </a:solidFill>
            <a:prstDash val="solid"/>
          </a:ln>
        </p:spPr>
      </p:sp>
      <p:sp>
        <p:nvSpPr>
          <p:cNvPr id="8" name="Text 6"/>
          <p:cNvSpPr txBox="1"/>
          <p:nvPr/>
        </p:nvSpPr>
        <p:spPr>
          <a:xfrm>
            <a:off x="731520" y="2359152"/>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7"/>
          <p:cNvSpPr txBox="1"/>
          <p:nvPr/>
        </p:nvSpPr>
        <p:spPr>
          <a:xfrm>
            <a:off x="1691640" y="2377440"/>
            <a:ext cx="3291840" cy="685800"/>
          </a:xfrm>
          <a:prstGeom prst="rect">
            <a:avLst/>
          </a:prstGeom>
          <a:noFill/>
          <a:ln/>
        </p:spPr>
        <p:txBody>
          <a:bodyPr wrap="square" lIns="0" tIns="0" rIns="0" bIns="0" rtlCol="0" anchor="ctr"/>
          <a:lstStyle/>
          <a:p>
            <a:pPr indent="0" marL="0">
              <a:buNone/>
            </a:pPr>
            <a:r>
              <a:rPr lang="en-US" sz="1900" b="1" dirty="0">
                <a:solidFill>
                  <a:schemeClr val="tx2"/>
                </a:solidFill>
              </a:rPr>
              <a:t>Pick the moment</a:t>
            </a:r>
            <a:endParaRPr lang="en-US" sz="1900" dirty="0"/>
          </a:p>
        </p:txBody>
      </p:sp>
      <p:sp>
        <p:nvSpPr>
          <p:cNvPr id="10" name="Text 8"/>
          <p:cNvSpPr txBox="1"/>
          <p:nvPr/>
        </p:nvSpPr>
        <p:spPr>
          <a:xfrm>
            <a:off x="4937760" y="2377440"/>
            <a:ext cx="6675120" cy="685800"/>
          </a:xfrm>
          <a:prstGeom prst="rect">
            <a:avLst/>
          </a:prstGeom>
          <a:noFill/>
          <a:ln/>
        </p:spPr>
        <p:txBody>
          <a:bodyPr wrap="square" lIns="0" tIns="0" rIns="0" bIns="0" rtlCol="0" anchor="ctr"/>
          <a:lstStyle/>
          <a:p>
            <a:pPr indent="0" marL="0">
              <a:buNone/>
            </a:pPr>
            <a:r>
              <a:rPr lang="en-US" sz="1500" dirty="0">
                <a:solidFill>
                  <a:schemeClr val="tx1"/>
                </a:solidFill>
              </a:rPr>
              <a:t>Replay slider sets "now"; the model only sees data up to that moment</a:t>
            </a:r>
            <a:endParaRPr lang="en-US" sz="1500" dirty="0"/>
          </a:p>
        </p:txBody>
      </p:sp>
      <p:sp>
        <p:nvSpPr>
          <p:cNvPr id="11" name="flow2"/>
          <p:cNvSpPr/>
          <p:nvPr/>
        </p:nvSpPr>
        <p:spPr>
          <a:xfrm>
            <a:off x="731520" y="3300984"/>
            <a:ext cx="685800" cy="685800"/>
          </a:xfrm>
          <a:prstGeom prst="ellipse">
            <a:avLst/>
          </a:prstGeom>
          <a:solidFill>
            <a:schemeClr val="accent1"/>
          </a:solidFill>
          <a:ln w="12700">
            <a:solidFill>
              <a:schemeClr val="accent1"/>
            </a:solidFill>
            <a:prstDash val="solid"/>
          </a:ln>
        </p:spPr>
      </p:sp>
      <p:sp>
        <p:nvSpPr>
          <p:cNvPr id="12" name="Text 10"/>
          <p:cNvSpPr txBox="1"/>
          <p:nvPr/>
        </p:nvSpPr>
        <p:spPr>
          <a:xfrm>
            <a:off x="731520" y="3300984"/>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1691640" y="3319272"/>
            <a:ext cx="3291840" cy="685800"/>
          </a:xfrm>
          <a:prstGeom prst="rect">
            <a:avLst/>
          </a:prstGeom>
          <a:noFill/>
          <a:ln/>
        </p:spPr>
        <p:txBody>
          <a:bodyPr wrap="square" lIns="0" tIns="0" rIns="0" bIns="0" rtlCol="0" anchor="ctr"/>
          <a:lstStyle/>
          <a:p>
            <a:pPr indent="0" marL="0">
              <a:buNone/>
            </a:pPr>
            <a:r>
              <a:rPr lang="en-US" sz="1900" b="1" dirty="0">
                <a:solidFill>
                  <a:schemeClr val="tx2"/>
                </a:solidFill>
              </a:rPr>
              <a:t>Review the record</a:t>
            </a:r>
            <a:endParaRPr lang="en-US" sz="1900" dirty="0"/>
          </a:p>
        </p:txBody>
      </p:sp>
      <p:sp>
        <p:nvSpPr>
          <p:cNvPr id="14" name="Text 12"/>
          <p:cNvSpPr txBox="1"/>
          <p:nvPr/>
        </p:nvSpPr>
        <p:spPr>
          <a:xfrm>
            <a:off x="4937760" y="3319272"/>
            <a:ext cx="6675120" cy="685800"/>
          </a:xfrm>
          <a:prstGeom prst="rect">
            <a:avLst/>
          </a:prstGeom>
          <a:noFill/>
          <a:ln/>
        </p:spPr>
        <p:txBody>
          <a:bodyPr wrap="square" lIns="0" tIns="0" rIns="0" bIns="0" rtlCol="0" anchor="ctr"/>
          <a:lstStyle/>
          <a:p>
            <a:pPr indent="0" marL="0">
              <a:buNone/>
            </a:pPr>
            <a:r>
              <a:rPr lang="en-US" sz="1500" dirty="0">
                <a:solidFill>
                  <a:schemeClr val="tx1"/>
                </a:solidFill>
              </a:rPr>
              <a:t>EHR and labs, CGM history, sensor completeness</a:t>
            </a:r>
            <a:endParaRPr lang="en-US" sz="1500" dirty="0"/>
          </a:p>
        </p:txBody>
      </p:sp>
      <p:sp>
        <p:nvSpPr>
          <p:cNvPr id="15" name="flow3"/>
          <p:cNvSpPr/>
          <p:nvPr/>
        </p:nvSpPr>
        <p:spPr>
          <a:xfrm>
            <a:off x="731520" y="4242816"/>
            <a:ext cx="685800" cy="685800"/>
          </a:xfrm>
          <a:prstGeom prst="ellipse">
            <a:avLst/>
          </a:prstGeom>
          <a:solidFill>
            <a:schemeClr val="accent1"/>
          </a:solidFill>
          <a:ln w="12700">
            <a:solidFill>
              <a:schemeClr val="accent1"/>
            </a:solidFill>
            <a:prstDash val="solid"/>
          </a:ln>
        </p:spPr>
      </p:sp>
      <p:sp>
        <p:nvSpPr>
          <p:cNvPr id="16" name="Text 14"/>
          <p:cNvSpPr txBox="1"/>
          <p:nvPr/>
        </p:nvSpPr>
        <p:spPr>
          <a:xfrm>
            <a:off x="731520" y="4242816"/>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7" name="Text 15"/>
          <p:cNvSpPr txBox="1"/>
          <p:nvPr/>
        </p:nvSpPr>
        <p:spPr>
          <a:xfrm>
            <a:off x="1691640" y="4261104"/>
            <a:ext cx="3291840" cy="685800"/>
          </a:xfrm>
          <a:prstGeom prst="rect">
            <a:avLst/>
          </a:prstGeom>
          <a:noFill/>
          <a:ln/>
        </p:spPr>
        <p:txBody>
          <a:bodyPr wrap="square" lIns="0" tIns="0" rIns="0" bIns="0" rtlCol="0" anchor="ctr"/>
          <a:lstStyle/>
          <a:p>
            <a:pPr indent="0" marL="0">
              <a:buNone/>
            </a:pPr>
            <a:r>
              <a:rPr lang="en-US" sz="1900" b="1" dirty="0">
                <a:solidFill>
                  <a:schemeClr val="tx2"/>
                </a:solidFill>
              </a:rPr>
              <a:t>Add daily context</a:t>
            </a:r>
            <a:endParaRPr lang="en-US" sz="1900" dirty="0"/>
          </a:p>
        </p:txBody>
      </p:sp>
      <p:sp>
        <p:nvSpPr>
          <p:cNvPr id="18" name="Text 16"/>
          <p:cNvSpPr txBox="1"/>
          <p:nvPr/>
        </p:nvSpPr>
        <p:spPr>
          <a:xfrm>
            <a:off x="4937760" y="4261104"/>
            <a:ext cx="6675120" cy="685800"/>
          </a:xfrm>
          <a:prstGeom prst="rect">
            <a:avLst/>
          </a:prstGeom>
          <a:noFill/>
          <a:ln/>
        </p:spPr>
        <p:txBody>
          <a:bodyPr wrap="square" lIns="0" tIns="0" rIns="0" bIns="0" rtlCol="0" anchor="ctr"/>
          <a:lstStyle/>
          <a:p>
            <a:pPr indent="0" marL="0">
              <a:buNone/>
            </a:pPr>
            <a:r>
              <a:rPr lang="en-US" sz="1500" dirty="0">
                <a:solidFill>
                  <a:schemeClr val="tx1"/>
                </a:solidFill>
              </a:rPr>
              <a:t>Optional what-if: meal carbs, rapid insulin, oral tablets</a:t>
            </a:r>
            <a:endParaRPr lang="en-US" sz="1500" dirty="0"/>
          </a:p>
        </p:txBody>
      </p:sp>
      <p:sp>
        <p:nvSpPr>
          <p:cNvPr id="19" name="flow4"/>
          <p:cNvSpPr/>
          <p:nvPr/>
        </p:nvSpPr>
        <p:spPr>
          <a:xfrm>
            <a:off x="731520" y="5184648"/>
            <a:ext cx="685800" cy="685800"/>
          </a:xfrm>
          <a:prstGeom prst="ellipse">
            <a:avLst/>
          </a:prstGeom>
          <a:solidFill>
            <a:schemeClr val="accent1"/>
          </a:solidFill>
          <a:ln w="12700">
            <a:solidFill>
              <a:schemeClr val="accent1"/>
            </a:solidFill>
            <a:prstDash val="solid"/>
          </a:ln>
        </p:spPr>
      </p:sp>
      <p:sp>
        <p:nvSpPr>
          <p:cNvPr id="20" name="Text 18"/>
          <p:cNvSpPr txBox="1"/>
          <p:nvPr/>
        </p:nvSpPr>
        <p:spPr>
          <a:xfrm>
            <a:off x="731520" y="5184648"/>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1" name="Text 19"/>
          <p:cNvSpPr txBox="1"/>
          <p:nvPr/>
        </p:nvSpPr>
        <p:spPr>
          <a:xfrm>
            <a:off x="1691640" y="5202936"/>
            <a:ext cx="3291840" cy="685800"/>
          </a:xfrm>
          <a:prstGeom prst="rect">
            <a:avLst/>
          </a:prstGeom>
          <a:noFill/>
          <a:ln/>
        </p:spPr>
        <p:txBody>
          <a:bodyPr wrap="square" lIns="0" tIns="0" rIns="0" bIns="0" rtlCol="0" anchor="ctr"/>
          <a:lstStyle/>
          <a:p>
            <a:pPr indent="0" marL="0">
              <a:buNone/>
            </a:pPr>
            <a:r>
              <a:rPr lang="en-US" sz="1900" b="1" dirty="0">
                <a:solidFill>
                  <a:schemeClr val="tx2"/>
                </a:solidFill>
              </a:rPr>
              <a:t>Generate &amp; compare</a:t>
            </a:r>
            <a:endParaRPr lang="en-US" sz="1900" dirty="0"/>
          </a:p>
        </p:txBody>
      </p:sp>
      <p:sp>
        <p:nvSpPr>
          <p:cNvPr id="22" name="Text 20"/>
          <p:cNvSpPr txBox="1"/>
          <p:nvPr/>
        </p:nvSpPr>
        <p:spPr>
          <a:xfrm>
            <a:off x="4937760" y="5202936"/>
            <a:ext cx="6675120" cy="685800"/>
          </a:xfrm>
          <a:prstGeom prst="rect">
            <a:avLst/>
          </a:prstGeom>
          <a:noFill/>
          <a:ln/>
        </p:spPr>
        <p:txBody>
          <a:bodyPr wrap="square" lIns="0" tIns="0" rIns="0" bIns="0" rtlCol="0" anchor="ctr"/>
          <a:lstStyle/>
          <a:p>
            <a:pPr indent="0" marL="0">
              <a:buNone/>
            </a:pPr>
            <a:r>
              <a:rPr lang="en-US" sz="1500" dirty="0">
                <a:solidFill>
                  <a:schemeClr val="tx1"/>
                </a:solidFill>
              </a:rPr>
              <a:t>Probabilities for 30 min, 1 h, 2 h; then the replay shows what really happened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Architecture</a:t>
            </a:r>
            <a:endParaRPr lang="en-US" sz="3000" dirty="0"/>
          </a:p>
        </p:txBody>
      </p:sp>
      <p:pic>
        <p:nvPicPr>
          <p:cNvPr id="3" name="architecture" descr="/Users/santhoshkorra/Downloads/project_happiness/docs/architecture.png">    </p:cNvPr>
          <p:cNvPicPr>
            <a:picLocks noChangeAspect="1"/>
          </p:cNvPicPr>
          <p:nvPr/>
        </p:nvPicPr>
        <p:blipFill>
          <a:blip r:embed="rId1"/>
          <a:srcRect l="0" r="0" t="0" b="0"/>
          <a:stretch/>
        </p:blipFill>
        <p:spPr>
          <a:xfrm>
            <a:off x="548640" y="1234440"/>
            <a:ext cx="11064240" cy="498348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Limitations and clinical safety</a:t>
            </a:r>
            <a:endParaRPr lang="en-US" sz="3000" dirty="0"/>
          </a:p>
        </p:txBody>
      </p:sp>
      <p:sp>
        <p:nvSpPr>
          <p:cNvPr id="3" name="lim0"/>
          <p:cNvSpPr/>
          <p:nvPr/>
        </p:nvSpPr>
        <p:spPr>
          <a:xfrm>
            <a:off x="548640" y="1371600"/>
            <a:ext cx="5394960" cy="1417320"/>
          </a:xfrm>
          <a:prstGeom prst="roundRect">
            <a:avLst>
              <a:gd name="adj" fmla="val 7742"/>
            </a:avLst>
          </a:prstGeom>
          <a:solidFill>
            <a:schemeClr val="bg2"/>
          </a:solidFill>
          <a:ln w="12700">
            <a:solidFill>
              <a:schemeClr val="bg2"/>
            </a:solidFill>
            <a:prstDash val="solid"/>
          </a:ln>
        </p:spPr>
      </p:sp>
      <p:sp>
        <p:nvSpPr>
          <p:cNvPr id="4" name="Text 2"/>
          <p:cNvSpPr txBox="1"/>
          <p:nvPr/>
        </p:nvSpPr>
        <p:spPr>
          <a:xfrm>
            <a:off x="822960" y="1508760"/>
            <a:ext cx="4846320" cy="411480"/>
          </a:xfrm>
          <a:prstGeom prst="rect">
            <a:avLst/>
          </a:prstGeom>
          <a:noFill/>
          <a:ln/>
        </p:spPr>
        <p:txBody>
          <a:bodyPr wrap="square" lIns="0" tIns="0" rIns="0" bIns="0" rtlCol="0" anchor="t"/>
          <a:lstStyle/>
          <a:p>
            <a:pPr indent="0" marL="0">
              <a:buNone/>
            </a:pPr>
            <a:r>
              <a:rPr lang="en-US" sz="1700" b="1" dirty="0">
                <a:solidFill>
                  <a:schemeClr val="accent2"/>
                </a:solidFill>
              </a:rPr>
              <a:t>Not clinically validated</a:t>
            </a:r>
            <a:endParaRPr lang="en-US" sz="1700" dirty="0"/>
          </a:p>
        </p:txBody>
      </p:sp>
      <p:sp>
        <p:nvSpPr>
          <p:cNvPr id="5" name="Text 3"/>
          <p:cNvSpPr txBox="1"/>
          <p:nvPr/>
        </p:nvSpPr>
        <p:spPr>
          <a:xfrm>
            <a:off x="822960" y="1965960"/>
            <a:ext cx="4846320" cy="777240"/>
          </a:xfrm>
          <a:prstGeom prst="rect">
            <a:avLst/>
          </a:prstGeom>
          <a:noFill/>
          <a:ln/>
        </p:spPr>
        <p:txBody>
          <a:bodyPr wrap="square" lIns="0" tIns="0" rIns="0" bIns="0" rtlCol="0" anchor="t"/>
          <a:lstStyle/>
          <a:p>
            <a:pPr indent="0" marL="0">
              <a:buNone/>
            </a:pPr>
            <a:r>
              <a:rPr lang="en-US" sz="1300" dirty="0">
                <a:solidFill>
                  <a:schemeClr val="tx1"/>
                </a:solidFill>
              </a:rPr>
              <a:t>A research prototype trained on open research data; not a medical device and not for treatment decisions.</a:t>
            </a:r>
            <a:endParaRPr lang="en-US" sz="1300" dirty="0"/>
          </a:p>
        </p:txBody>
      </p:sp>
      <p:sp>
        <p:nvSpPr>
          <p:cNvPr id="6" name="lim1"/>
          <p:cNvSpPr/>
          <p:nvPr/>
        </p:nvSpPr>
        <p:spPr>
          <a:xfrm>
            <a:off x="6217920" y="1371600"/>
            <a:ext cx="539496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6492240" y="1508760"/>
            <a:ext cx="4846320" cy="411480"/>
          </a:xfrm>
          <a:prstGeom prst="rect">
            <a:avLst/>
          </a:prstGeom>
          <a:noFill/>
          <a:ln/>
        </p:spPr>
        <p:txBody>
          <a:bodyPr wrap="square" lIns="0" tIns="0" rIns="0" bIns="0" rtlCol="0" anchor="t"/>
          <a:lstStyle/>
          <a:p>
            <a:pPr indent="0" marL="0">
              <a:buNone/>
            </a:pPr>
            <a:r>
              <a:rPr lang="en-US" sz="1700" b="1" dirty="0">
                <a:solidFill>
                  <a:schemeClr val="accent2"/>
                </a:solidFill>
              </a:rPr>
              <a:t>Not an Indian cohort</a:t>
            </a:r>
            <a:endParaRPr lang="en-US" sz="1700" dirty="0"/>
          </a:p>
        </p:txBody>
      </p:sp>
      <p:sp>
        <p:nvSpPr>
          <p:cNvPr id="8" name="Text 6"/>
          <p:cNvSpPr txBox="1"/>
          <p:nvPr/>
        </p:nvSpPr>
        <p:spPr>
          <a:xfrm>
            <a:off x="6492240" y="1965960"/>
            <a:ext cx="4846320" cy="777240"/>
          </a:xfrm>
          <a:prstGeom prst="rect">
            <a:avLst/>
          </a:prstGeom>
          <a:noFill/>
          <a:ln/>
        </p:spPr>
        <p:txBody>
          <a:bodyPr wrap="square" lIns="0" tIns="0" rIns="0" bIns="0" rtlCol="0" anchor="t"/>
          <a:lstStyle/>
          <a:p>
            <a:pPr indent="0" marL="0">
              <a:buNone/>
            </a:pPr>
            <a:r>
              <a:rPr lang="en-US" sz="1300" dirty="0">
                <a:solidFill>
                  <a:schemeClr val="tx1"/>
                </a:solidFill>
              </a:rPr>
              <a:t>The Type 2 data is from Shanghai, China. Validation with Indian Type 2 patients is future work.</a:t>
            </a:r>
            <a:endParaRPr lang="en-US" sz="1300" dirty="0"/>
          </a:p>
        </p:txBody>
      </p:sp>
      <p:sp>
        <p:nvSpPr>
          <p:cNvPr id="9" name="lim2"/>
          <p:cNvSpPr/>
          <p:nvPr/>
        </p:nvSpPr>
        <p:spPr>
          <a:xfrm>
            <a:off x="548640" y="2971800"/>
            <a:ext cx="539496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822960" y="3108960"/>
            <a:ext cx="4846320" cy="411480"/>
          </a:xfrm>
          <a:prstGeom prst="rect">
            <a:avLst/>
          </a:prstGeom>
          <a:noFill/>
          <a:ln/>
        </p:spPr>
        <p:txBody>
          <a:bodyPr wrap="square" lIns="0" tIns="0" rIns="0" bIns="0" rtlCol="0" anchor="t"/>
          <a:lstStyle/>
          <a:p>
            <a:pPr indent="0" marL="0">
              <a:buNone/>
            </a:pPr>
            <a:r>
              <a:rPr lang="en-US" sz="1700" b="1" dirty="0">
                <a:solidFill>
                  <a:schemeClr val="accent2"/>
                </a:solidFill>
              </a:rPr>
              <a:t>Missed serious spikes</a:t>
            </a:r>
            <a:endParaRPr lang="en-US" sz="1700" dirty="0"/>
          </a:p>
        </p:txBody>
      </p:sp>
      <p:sp>
        <p:nvSpPr>
          <p:cNvPr id="11" name="Text 9"/>
          <p:cNvSpPr txBox="1"/>
          <p:nvPr/>
        </p:nvSpPr>
        <p:spPr>
          <a:xfrm>
            <a:off x="822960" y="3566160"/>
            <a:ext cx="4846320" cy="777240"/>
          </a:xfrm>
          <a:prstGeom prst="rect">
            <a:avLst/>
          </a:prstGeom>
          <a:noFill/>
          <a:ln/>
        </p:spPr>
        <p:txBody>
          <a:bodyPr wrap="square" lIns="0" tIns="0" rIns="0" bIns="0" rtlCol="0" anchor="t"/>
          <a:lstStyle/>
          <a:p>
            <a:pPr indent="0" marL="0">
              <a:buNone/>
            </a:pPr>
            <a:r>
              <a:rPr lang="en-US" sz="1300" dirty="0">
                <a:solidFill>
                  <a:schemeClr val="tx1"/>
                </a:solidFill>
              </a:rPr>
              <a:t>36.8% of 9,503 serious episodes got no warning 30–120 min ahead (all 187 people, event level).</a:t>
            </a:r>
            <a:endParaRPr lang="en-US" sz="1300" dirty="0"/>
          </a:p>
        </p:txBody>
      </p:sp>
      <p:sp>
        <p:nvSpPr>
          <p:cNvPr id="12" name="lim3"/>
          <p:cNvSpPr/>
          <p:nvPr/>
        </p:nvSpPr>
        <p:spPr>
          <a:xfrm>
            <a:off x="6217920" y="2971800"/>
            <a:ext cx="5394960" cy="1417320"/>
          </a:xfrm>
          <a:prstGeom prst="roundRect">
            <a:avLst>
              <a:gd name="adj" fmla="val 7742"/>
            </a:avLst>
          </a:prstGeom>
          <a:solidFill>
            <a:schemeClr val="bg2"/>
          </a:solidFill>
          <a:ln w="12700">
            <a:solidFill>
              <a:schemeClr val="bg2"/>
            </a:solidFill>
            <a:prstDash val="solid"/>
          </a:ln>
        </p:spPr>
      </p:sp>
      <p:sp>
        <p:nvSpPr>
          <p:cNvPr id="13" name="Text 11"/>
          <p:cNvSpPr txBox="1"/>
          <p:nvPr/>
        </p:nvSpPr>
        <p:spPr>
          <a:xfrm>
            <a:off x="6492240" y="3108960"/>
            <a:ext cx="4846320" cy="411480"/>
          </a:xfrm>
          <a:prstGeom prst="rect">
            <a:avLst/>
          </a:prstGeom>
          <a:noFill/>
          <a:ln/>
        </p:spPr>
        <p:txBody>
          <a:bodyPr wrap="square" lIns="0" tIns="0" rIns="0" bIns="0" rtlCol="0" anchor="t"/>
          <a:lstStyle/>
          <a:p>
            <a:pPr indent="0" marL="0">
              <a:buNone/>
            </a:pPr>
            <a:r>
              <a:rPr lang="en-US" sz="1700" b="1" dirty="0">
                <a:solidFill>
                  <a:schemeClr val="accent2"/>
                </a:solidFill>
              </a:rPr>
              <a:t>Errors near the 180 line</a:t>
            </a:r>
            <a:endParaRPr lang="en-US" sz="1700" dirty="0"/>
          </a:p>
        </p:txBody>
      </p:sp>
      <p:sp>
        <p:nvSpPr>
          <p:cNvPr id="14" name="Text 12"/>
          <p:cNvSpPr txBox="1"/>
          <p:nvPr/>
        </p:nvSpPr>
        <p:spPr>
          <a:xfrm>
            <a:off x="6492240" y="3566160"/>
            <a:ext cx="4846320" cy="777240"/>
          </a:xfrm>
          <a:prstGeom prst="rect">
            <a:avLst/>
          </a:prstGeom>
          <a:noFill/>
          <a:ln/>
        </p:spPr>
        <p:txBody>
          <a:bodyPr wrap="square" lIns="0" tIns="0" rIns="0" bIns="0" rtlCol="0" anchor="t"/>
          <a:lstStyle/>
          <a:p>
            <a:pPr indent="0" marL="0">
              <a:buNone/>
            </a:pPr>
            <a:r>
              <a:rPr lang="en-US" sz="1300" dirty="0">
                <a:solidFill>
                  <a:schemeClr val="tx1"/>
                </a:solidFill>
              </a:rPr>
              <a:t>49.9% of 2-hour errors have a peak within ±10% of 180 mg/dL; CGM and fingerstick differ by MARD 13.9%.</a:t>
            </a:r>
            <a:endParaRPr lang="en-US" sz="1300" dirty="0"/>
          </a:p>
        </p:txBody>
      </p:sp>
      <p:sp>
        <p:nvSpPr>
          <p:cNvPr id="15" name="lim4"/>
          <p:cNvSpPr/>
          <p:nvPr/>
        </p:nvSpPr>
        <p:spPr>
          <a:xfrm>
            <a:off x="548640" y="4572000"/>
            <a:ext cx="5394960" cy="1417320"/>
          </a:xfrm>
          <a:prstGeom prst="roundRect">
            <a:avLst>
              <a:gd name="adj" fmla="val 7742"/>
            </a:avLst>
          </a:prstGeom>
          <a:solidFill>
            <a:schemeClr val="bg2"/>
          </a:solidFill>
          <a:ln w="12700">
            <a:solidFill>
              <a:schemeClr val="bg2"/>
            </a:solidFill>
            <a:prstDash val="solid"/>
          </a:ln>
        </p:spPr>
      </p:sp>
      <p:sp>
        <p:nvSpPr>
          <p:cNvPr id="16" name="Text 14"/>
          <p:cNvSpPr txBox="1"/>
          <p:nvPr/>
        </p:nvSpPr>
        <p:spPr>
          <a:xfrm>
            <a:off x="822960" y="4709160"/>
            <a:ext cx="4846320" cy="411480"/>
          </a:xfrm>
          <a:prstGeom prst="rect">
            <a:avLst/>
          </a:prstGeom>
          <a:noFill/>
          <a:ln/>
        </p:spPr>
        <p:txBody>
          <a:bodyPr wrap="square" lIns="0" tIns="0" rIns="0" bIns="0" rtlCol="0" anchor="t"/>
          <a:lstStyle/>
          <a:p>
            <a:pPr indent="0" marL="0">
              <a:buNone/>
            </a:pPr>
            <a:r>
              <a:rPr lang="en-US" sz="1700" b="1" dirty="0">
                <a:solidFill>
                  <a:schemeClr val="accent2"/>
                </a:solidFill>
              </a:rPr>
              <a:t>False alarms</a:t>
            </a:r>
            <a:endParaRPr lang="en-US" sz="1700" dirty="0"/>
          </a:p>
        </p:txBody>
      </p:sp>
      <p:sp>
        <p:nvSpPr>
          <p:cNvPr id="17" name="Text 15"/>
          <p:cNvSpPr txBox="1"/>
          <p:nvPr/>
        </p:nvSpPr>
        <p:spPr>
          <a:xfrm>
            <a:off x="822960" y="5166360"/>
            <a:ext cx="4846320" cy="777240"/>
          </a:xfrm>
          <a:prstGeom prst="rect">
            <a:avLst/>
          </a:prstGeom>
          <a:noFill/>
          <a:ln/>
        </p:spPr>
        <p:txBody>
          <a:bodyPr wrap="square" lIns="0" tIns="0" rIns="0" bIns="0" rtlCol="0" anchor="t"/>
          <a:lstStyle/>
          <a:p>
            <a:pPr indent="0" marL="0">
              <a:buNone/>
            </a:pPr>
            <a:r>
              <a:rPr lang="en-US" sz="1300" dirty="0">
                <a:solidFill>
                  <a:schemeClr val="tx1"/>
                </a:solidFill>
              </a:rPr>
              <a:t>Even with the in-range early-warning rule, about 1.3 false alerts per patient-day on the locked test set.</a:t>
            </a:r>
            <a:endParaRPr lang="en-US" sz="1300" dirty="0"/>
          </a:p>
        </p:txBody>
      </p:sp>
      <p:sp>
        <p:nvSpPr>
          <p:cNvPr id="18" name="lim5"/>
          <p:cNvSpPr/>
          <p:nvPr/>
        </p:nvSpPr>
        <p:spPr>
          <a:xfrm>
            <a:off x="6217920" y="4572000"/>
            <a:ext cx="5394960" cy="1417320"/>
          </a:xfrm>
          <a:prstGeom prst="roundRect">
            <a:avLst>
              <a:gd name="adj" fmla="val 7742"/>
            </a:avLst>
          </a:prstGeom>
          <a:solidFill>
            <a:schemeClr val="bg2"/>
          </a:solidFill>
          <a:ln w="12700">
            <a:solidFill>
              <a:schemeClr val="bg2"/>
            </a:solidFill>
            <a:prstDash val="solid"/>
          </a:ln>
        </p:spPr>
      </p:sp>
      <p:sp>
        <p:nvSpPr>
          <p:cNvPr id="19" name="Text 17"/>
          <p:cNvSpPr txBox="1"/>
          <p:nvPr/>
        </p:nvSpPr>
        <p:spPr>
          <a:xfrm>
            <a:off x="6492240" y="4709160"/>
            <a:ext cx="4846320" cy="411480"/>
          </a:xfrm>
          <a:prstGeom prst="rect">
            <a:avLst/>
          </a:prstGeom>
          <a:noFill/>
          <a:ln/>
        </p:spPr>
        <p:txBody>
          <a:bodyPr wrap="square" lIns="0" tIns="0" rIns="0" bIns="0" rtlCol="0" anchor="t"/>
          <a:lstStyle/>
          <a:p>
            <a:pPr indent="0" marL="0">
              <a:buNone/>
            </a:pPr>
            <a:r>
              <a:rPr lang="en-US" sz="1700" b="1" dirty="0">
                <a:solidFill>
                  <a:schemeClr val="accent2"/>
                </a:solidFill>
              </a:rPr>
              <a:t>What-if and uploads</a:t>
            </a:r>
            <a:endParaRPr lang="en-US" sz="1700" dirty="0"/>
          </a:p>
        </p:txBody>
      </p:sp>
      <p:sp>
        <p:nvSpPr>
          <p:cNvPr id="20" name="Text 18"/>
          <p:cNvSpPr txBox="1"/>
          <p:nvPr/>
        </p:nvSpPr>
        <p:spPr>
          <a:xfrm>
            <a:off x="6492240" y="5166360"/>
            <a:ext cx="4846320" cy="777240"/>
          </a:xfrm>
          <a:prstGeom prst="rect">
            <a:avLst/>
          </a:prstGeom>
          <a:noFill/>
          <a:ln/>
        </p:spPr>
        <p:txBody>
          <a:bodyPr wrap="square" lIns="0" tIns="0" rIns="0" bIns="0" rtlCol="0" anchor="t"/>
          <a:lstStyle/>
          <a:p>
            <a:pPr indent="0" marL="0">
              <a:buNone/>
            </a:pPr>
            <a:r>
              <a:rPr lang="en-US" sz="1300" dirty="0">
                <a:solidFill>
                  <a:schemeClr val="tx1"/>
                </a:solidFill>
              </a:rPr>
              <a:t>Daily-context scenarios and individual uploads are not separately validated.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From prototype to Indian clinics</a:t>
            </a:r>
            <a:endParaRPr lang="en-US" sz="3000" dirty="0"/>
          </a:p>
        </p:txBody>
      </p:sp>
      <p:sp>
        <p:nvSpPr>
          <p:cNvPr id="3" name="next0"/>
          <p:cNvSpPr/>
          <p:nvPr/>
        </p:nvSpPr>
        <p:spPr>
          <a:xfrm>
            <a:off x="548640" y="1417320"/>
            <a:ext cx="5394960" cy="2148840"/>
          </a:xfrm>
          <a:prstGeom prst="roundRect">
            <a:avLst>
              <a:gd name="adj" fmla="val 5106"/>
            </a:avLst>
          </a:prstGeom>
          <a:solidFill>
            <a:schemeClr val="bg2"/>
          </a:solidFill>
          <a:ln w="12700">
            <a:solidFill>
              <a:schemeClr val="bg2"/>
            </a:solidFill>
            <a:prstDash val="solid"/>
          </a:ln>
        </p:spPr>
      </p:sp>
      <p:sp>
        <p:nvSpPr>
          <p:cNvPr id="4" name="next0-circle"/>
          <p:cNvSpPr/>
          <p:nvPr/>
        </p:nvSpPr>
        <p:spPr>
          <a:xfrm>
            <a:off x="822960" y="1783080"/>
            <a:ext cx="868680" cy="868680"/>
          </a:xfrm>
          <a:prstGeom prst="ellipse">
            <a:avLst/>
          </a:prstGeom>
          <a:solidFill>
            <a:schemeClr val="accent1"/>
          </a:solidFill>
          <a:ln w="12700">
            <a:solidFill>
              <a:schemeClr val="accent1"/>
            </a:solidFill>
            <a:prstDash val="solid"/>
          </a:ln>
        </p:spPr>
      </p:sp>
      <p:pic>
        <p:nvPicPr>
          <p:cNvPr id="5" name="next0-icon" descr="preencoded.png">    </p:cNvPr>
          <p:cNvPicPr>
            <a:picLocks noChangeAspect="1"/>
          </p:cNvPicPr>
          <p:nvPr/>
        </p:nvPicPr>
        <p:blipFill>
          <a:blip r:embed="rId1"/>
          <a:stretch>
            <a:fillRect/>
          </a:stretch>
        </p:blipFill>
        <p:spPr>
          <a:xfrm>
            <a:off x="1031443" y="1991563"/>
            <a:ext cx="451714" cy="451714"/>
          </a:xfrm>
          <a:prstGeom prst="rect">
            <a:avLst/>
          </a:prstGeom>
        </p:spPr>
      </p:pic>
      <p:sp>
        <p:nvSpPr>
          <p:cNvPr id="6" name="Text 3"/>
          <p:cNvSpPr txBox="1"/>
          <p:nvPr/>
        </p:nvSpPr>
        <p:spPr>
          <a:xfrm>
            <a:off x="1920240" y="1783080"/>
            <a:ext cx="3840480" cy="502920"/>
          </a:xfrm>
          <a:prstGeom prst="rect">
            <a:avLst/>
          </a:prstGeom>
          <a:noFill/>
          <a:ln/>
        </p:spPr>
        <p:txBody>
          <a:bodyPr wrap="square" lIns="0" tIns="0" rIns="0" bIns="0" rtlCol="0" anchor="t"/>
          <a:lstStyle/>
          <a:p>
            <a:pPr indent="0" marL="0">
              <a:buNone/>
            </a:pPr>
            <a:r>
              <a:rPr lang="en-US" sz="1900" b="1" dirty="0">
                <a:solidFill>
                  <a:schemeClr val="tx2"/>
                </a:solidFill>
              </a:rPr>
              <a:t>Clinical validation</a:t>
            </a:r>
            <a:endParaRPr lang="en-US" sz="1900" dirty="0"/>
          </a:p>
        </p:txBody>
      </p:sp>
      <p:sp>
        <p:nvSpPr>
          <p:cNvPr id="7" name="Text 4"/>
          <p:cNvSpPr txBox="1"/>
          <p:nvPr/>
        </p:nvSpPr>
        <p:spPr>
          <a:xfrm>
            <a:off x="1920240" y="2331720"/>
            <a:ext cx="3840480" cy="1097280"/>
          </a:xfrm>
          <a:prstGeom prst="rect">
            <a:avLst/>
          </a:prstGeom>
          <a:noFill/>
          <a:ln/>
        </p:spPr>
        <p:txBody>
          <a:bodyPr wrap="square" lIns="0" tIns="0" rIns="0" bIns="0" rtlCol="0" anchor="t"/>
          <a:lstStyle/>
          <a:p>
            <a:pPr indent="0" marL="0">
              <a:buNone/>
            </a:pPr>
            <a:r>
              <a:rPr lang="en-US" sz="1500" dirty="0">
                <a:solidFill>
                  <a:schemeClr val="tx1"/>
                </a:solidFill>
              </a:rPr>
              <a:t>Prospective study with Indian Type 2 patients and clinicians before any real use</a:t>
            </a:r>
            <a:endParaRPr lang="en-US" sz="1500" dirty="0"/>
          </a:p>
        </p:txBody>
      </p:sp>
      <p:sp>
        <p:nvSpPr>
          <p:cNvPr id="8" name="next1"/>
          <p:cNvSpPr/>
          <p:nvPr/>
        </p:nvSpPr>
        <p:spPr>
          <a:xfrm>
            <a:off x="6217920" y="1417320"/>
            <a:ext cx="5394960" cy="2148840"/>
          </a:xfrm>
          <a:prstGeom prst="roundRect">
            <a:avLst>
              <a:gd name="adj" fmla="val 5106"/>
            </a:avLst>
          </a:prstGeom>
          <a:solidFill>
            <a:schemeClr val="bg2"/>
          </a:solidFill>
          <a:ln w="12700">
            <a:solidFill>
              <a:schemeClr val="bg2"/>
            </a:solidFill>
            <a:prstDash val="solid"/>
          </a:ln>
        </p:spPr>
      </p:sp>
      <p:sp>
        <p:nvSpPr>
          <p:cNvPr id="9" name="next1-circle"/>
          <p:cNvSpPr/>
          <p:nvPr/>
        </p:nvSpPr>
        <p:spPr>
          <a:xfrm>
            <a:off x="6492240" y="1783080"/>
            <a:ext cx="868680" cy="868680"/>
          </a:xfrm>
          <a:prstGeom prst="ellipse">
            <a:avLst/>
          </a:prstGeom>
          <a:solidFill>
            <a:schemeClr val="accent1"/>
          </a:solidFill>
          <a:ln w="12700">
            <a:solidFill>
              <a:schemeClr val="accent1"/>
            </a:solidFill>
            <a:prstDash val="solid"/>
          </a:ln>
        </p:spPr>
      </p:sp>
      <p:pic>
        <p:nvPicPr>
          <p:cNvPr id="10" name="next1-icon" descr="preencoded.png">    </p:cNvPr>
          <p:cNvPicPr>
            <a:picLocks noChangeAspect="1"/>
          </p:cNvPicPr>
          <p:nvPr/>
        </p:nvPicPr>
        <p:blipFill>
          <a:blip r:embed="rId2"/>
          <a:stretch>
            <a:fillRect/>
          </a:stretch>
        </p:blipFill>
        <p:spPr>
          <a:xfrm>
            <a:off x="6700723" y="1991563"/>
            <a:ext cx="451714" cy="451714"/>
          </a:xfrm>
          <a:prstGeom prst="rect">
            <a:avLst/>
          </a:prstGeom>
        </p:spPr>
      </p:pic>
      <p:sp>
        <p:nvSpPr>
          <p:cNvPr id="11" name="Text 7"/>
          <p:cNvSpPr txBox="1"/>
          <p:nvPr/>
        </p:nvSpPr>
        <p:spPr>
          <a:xfrm>
            <a:off x="7589520" y="1783080"/>
            <a:ext cx="3840480" cy="502920"/>
          </a:xfrm>
          <a:prstGeom prst="rect">
            <a:avLst/>
          </a:prstGeom>
          <a:noFill/>
          <a:ln/>
        </p:spPr>
        <p:txBody>
          <a:bodyPr wrap="square" lIns="0" tIns="0" rIns="0" bIns="0" rtlCol="0" anchor="t"/>
          <a:lstStyle/>
          <a:p>
            <a:pPr indent="0" marL="0">
              <a:buNone/>
            </a:pPr>
            <a:r>
              <a:rPr lang="en-US" sz="1900" b="1" dirty="0">
                <a:solidFill>
                  <a:schemeClr val="tx2"/>
                </a:solidFill>
              </a:rPr>
              <a:t>Health-record integration</a:t>
            </a:r>
            <a:endParaRPr lang="en-US" sz="1900" dirty="0"/>
          </a:p>
        </p:txBody>
      </p:sp>
      <p:sp>
        <p:nvSpPr>
          <p:cNvPr id="12" name="Text 8"/>
          <p:cNvSpPr txBox="1"/>
          <p:nvPr/>
        </p:nvSpPr>
        <p:spPr>
          <a:xfrm>
            <a:off x="7589520" y="2331720"/>
            <a:ext cx="3840480" cy="1097280"/>
          </a:xfrm>
          <a:prstGeom prst="rect">
            <a:avLst/>
          </a:prstGeom>
          <a:noFill/>
          <a:ln/>
        </p:spPr>
        <p:txBody>
          <a:bodyPr wrap="square" lIns="0" tIns="0" rIns="0" bIns="0" rtlCol="0" anchor="t"/>
          <a:lstStyle/>
          <a:p>
            <a:pPr indent="0" marL="0">
              <a:buNone/>
            </a:pPr>
            <a:r>
              <a:rPr lang="en-US" sz="1500" dirty="0">
                <a:solidFill>
                  <a:schemeClr val="tx1"/>
                </a:solidFill>
              </a:rPr>
              <a:t>Connect to ABHA-linked records (ABDM) for labs and prescriptions</a:t>
            </a:r>
            <a:endParaRPr lang="en-US" sz="1500" dirty="0"/>
          </a:p>
        </p:txBody>
      </p:sp>
      <p:sp>
        <p:nvSpPr>
          <p:cNvPr id="13" name="next2"/>
          <p:cNvSpPr/>
          <p:nvPr/>
        </p:nvSpPr>
        <p:spPr>
          <a:xfrm>
            <a:off x="548640" y="3794760"/>
            <a:ext cx="5394960" cy="2148840"/>
          </a:xfrm>
          <a:prstGeom prst="roundRect">
            <a:avLst>
              <a:gd name="adj" fmla="val 5106"/>
            </a:avLst>
          </a:prstGeom>
          <a:solidFill>
            <a:schemeClr val="bg2"/>
          </a:solidFill>
          <a:ln w="12700">
            <a:solidFill>
              <a:schemeClr val="bg2"/>
            </a:solidFill>
            <a:prstDash val="solid"/>
          </a:ln>
        </p:spPr>
      </p:sp>
      <p:sp>
        <p:nvSpPr>
          <p:cNvPr id="14" name="next2-circle"/>
          <p:cNvSpPr/>
          <p:nvPr/>
        </p:nvSpPr>
        <p:spPr>
          <a:xfrm>
            <a:off x="822960" y="4160520"/>
            <a:ext cx="868680" cy="868680"/>
          </a:xfrm>
          <a:prstGeom prst="ellipse">
            <a:avLst/>
          </a:prstGeom>
          <a:solidFill>
            <a:schemeClr val="accent1"/>
          </a:solidFill>
          <a:ln w="12700">
            <a:solidFill>
              <a:schemeClr val="accent1"/>
            </a:solidFill>
            <a:prstDash val="solid"/>
          </a:ln>
        </p:spPr>
      </p:sp>
      <p:pic>
        <p:nvPicPr>
          <p:cNvPr id="15" name="next2-icon" descr="preencoded.png">    </p:cNvPr>
          <p:cNvPicPr>
            <a:picLocks noChangeAspect="1"/>
          </p:cNvPicPr>
          <p:nvPr/>
        </p:nvPicPr>
        <p:blipFill>
          <a:blip r:embed="rId3"/>
          <a:stretch>
            <a:fillRect/>
          </a:stretch>
        </p:blipFill>
        <p:spPr>
          <a:xfrm>
            <a:off x="1031443" y="4369003"/>
            <a:ext cx="451714" cy="451714"/>
          </a:xfrm>
          <a:prstGeom prst="rect">
            <a:avLst/>
          </a:prstGeom>
        </p:spPr>
      </p:pic>
      <p:sp>
        <p:nvSpPr>
          <p:cNvPr id="16" name="Text 11"/>
          <p:cNvSpPr txBox="1"/>
          <p:nvPr/>
        </p:nvSpPr>
        <p:spPr>
          <a:xfrm>
            <a:off x="1920240" y="4160520"/>
            <a:ext cx="3840480" cy="502920"/>
          </a:xfrm>
          <a:prstGeom prst="rect">
            <a:avLst/>
          </a:prstGeom>
          <a:noFill/>
          <a:ln/>
        </p:spPr>
        <p:txBody>
          <a:bodyPr wrap="square" lIns="0" tIns="0" rIns="0" bIns="0" rtlCol="0" anchor="t"/>
          <a:lstStyle/>
          <a:p>
            <a:pPr indent="0" marL="0">
              <a:buNone/>
            </a:pPr>
            <a:r>
              <a:rPr lang="en-US" sz="1900" b="1" dirty="0">
                <a:solidFill>
                  <a:schemeClr val="tx2"/>
                </a:solidFill>
              </a:rPr>
              <a:t>Affordable sensing</a:t>
            </a:r>
            <a:endParaRPr lang="en-US" sz="1900" dirty="0"/>
          </a:p>
        </p:txBody>
      </p:sp>
      <p:sp>
        <p:nvSpPr>
          <p:cNvPr id="17" name="Text 12"/>
          <p:cNvSpPr txBox="1"/>
          <p:nvPr/>
        </p:nvSpPr>
        <p:spPr>
          <a:xfrm>
            <a:off x="1920240" y="4709160"/>
            <a:ext cx="3840480" cy="1097280"/>
          </a:xfrm>
          <a:prstGeom prst="rect">
            <a:avLst/>
          </a:prstGeom>
          <a:noFill/>
          <a:ln/>
        </p:spPr>
        <p:txBody>
          <a:bodyPr wrap="square" lIns="0" tIns="0" rIns="0" bIns="0" rtlCol="0" anchor="t"/>
          <a:lstStyle/>
          <a:p>
            <a:pPr indent="0" marL="0">
              <a:buNone/>
            </a:pPr>
            <a:r>
              <a:rPr lang="en-US" sz="1500" dirty="0">
                <a:solidFill>
                  <a:schemeClr val="tx1"/>
                </a:solidFill>
              </a:rPr>
              <a:t>Low-cost CGMs and phone alerts for patients and care teams</a:t>
            </a:r>
            <a:endParaRPr lang="en-US" sz="1500" dirty="0"/>
          </a:p>
        </p:txBody>
      </p:sp>
      <p:sp>
        <p:nvSpPr>
          <p:cNvPr id="18" name="next3"/>
          <p:cNvSpPr/>
          <p:nvPr/>
        </p:nvSpPr>
        <p:spPr>
          <a:xfrm>
            <a:off x="6217920" y="3794760"/>
            <a:ext cx="5394960" cy="2148840"/>
          </a:xfrm>
          <a:prstGeom prst="roundRect">
            <a:avLst>
              <a:gd name="adj" fmla="val 5106"/>
            </a:avLst>
          </a:prstGeom>
          <a:solidFill>
            <a:schemeClr val="bg2"/>
          </a:solidFill>
          <a:ln w="12700">
            <a:solidFill>
              <a:schemeClr val="bg2"/>
            </a:solidFill>
            <a:prstDash val="solid"/>
          </a:ln>
        </p:spPr>
      </p:sp>
      <p:sp>
        <p:nvSpPr>
          <p:cNvPr id="19" name="next3-circle"/>
          <p:cNvSpPr/>
          <p:nvPr/>
        </p:nvSpPr>
        <p:spPr>
          <a:xfrm>
            <a:off x="6492240" y="4160520"/>
            <a:ext cx="868680" cy="868680"/>
          </a:xfrm>
          <a:prstGeom prst="ellipse">
            <a:avLst/>
          </a:prstGeom>
          <a:solidFill>
            <a:schemeClr val="accent1"/>
          </a:solidFill>
          <a:ln w="12700">
            <a:solidFill>
              <a:schemeClr val="accent1"/>
            </a:solidFill>
            <a:prstDash val="solid"/>
          </a:ln>
        </p:spPr>
      </p:sp>
      <p:pic>
        <p:nvPicPr>
          <p:cNvPr id="20" name="next3-icon" descr="preencoded.png">    </p:cNvPr>
          <p:cNvPicPr>
            <a:picLocks noChangeAspect="1"/>
          </p:cNvPicPr>
          <p:nvPr/>
        </p:nvPicPr>
        <p:blipFill>
          <a:blip r:embed="rId4"/>
          <a:stretch>
            <a:fillRect/>
          </a:stretch>
        </p:blipFill>
        <p:spPr>
          <a:xfrm>
            <a:off x="6700723" y="4369003"/>
            <a:ext cx="451714" cy="451714"/>
          </a:xfrm>
          <a:prstGeom prst="rect">
            <a:avLst/>
          </a:prstGeom>
        </p:spPr>
      </p:pic>
      <p:sp>
        <p:nvSpPr>
          <p:cNvPr id="21" name="Text 15"/>
          <p:cNvSpPr txBox="1"/>
          <p:nvPr/>
        </p:nvSpPr>
        <p:spPr>
          <a:xfrm>
            <a:off x="7589520" y="4160520"/>
            <a:ext cx="3840480" cy="502920"/>
          </a:xfrm>
          <a:prstGeom prst="rect">
            <a:avLst/>
          </a:prstGeom>
          <a:noFill/>
          <a:ln/>
        </p:spPr>
        <p:txBody>
          <a:bodyPr wrap="square" lIns="0" tIns="0" rIns="0" bIns="0" rtlCol="0" anchor="t"/>
          <a:lstStyle/>
          <a:p>
            <a:pPr indent="0" marL="0">
              <a:buNone/>
            </a:pPr>
            <a:r>
              <a:rPr lang="en-US" sz="1900" b="1" dirty="0">
                <a:solidFill>
                  <a:schemeClr val="tx2"/>
                </a:solidFill>
              </a:rPr>
              <a:t>Privacy by design</a:t>
            </a:r>
            <a:endParaRPr lang="en-US" sz="1900" dirty="0"/>
          </a:p>
        </p:txBody>
      </p:sp>
      <p:sp>
        <p:nvSpPr>
          <p:cNvPr id="22" name="Text 16"/>
          <p:cNvSpPr txBox="1"/>
          <p:nvPr/>
        </p:nvSpPr>
        <p:spPr>
          <a:xfrm>
            <a:off x="7589520" y="4709160"/>
            <a:ext cx="3840480" cy="1097280"/>
          </a:xfrm>
          <a:prstGeom prst="rect">
            <a:avLst/>
          </a:prstGeom>
          <a:noFill/>
          <a:ln/>
        </p:spPr>
        <p:txBody>
          <a:bodyPr wrap="square" lIns="0" tIns="0" rIns="0" bIns="0" rtlCol="0" anchor="t"/>
          <a:lstStyle/>
          <a:p>
            <a:pPr indent="0" marL="0">
              <a:buNone/>
            </a:pPr>
            <a:r>
              <a:rPr lang="en-US" sz="1500" dirty="0">
                <a:solidFill>
                  <a:schemeClr val="tx1"/>
                </a:solidFill>
              </a:rPr>
              <a:t>DPDP-Act consent, encrypted processing, clinician-in-the-loop alerts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nchor="b"/>
          <a:lstStyle/>
          <a:p>
            <a:pPr indent="0" marL="0">
              <a:buNone/>
            </a:pPr>
            <a:r>
              <a:rPr lang="en-US" sz="4800" b="1" dirty="0">
                <a:solidFill>
                  <a:schemeClr val="bg1"/>
                </a:solidFill>
              </a:rPr>
              <a:t>See the spike before it happens</a:t>
            </a:r>
            <a:endParaRPr lang="en-US" sz="4800" dirty="0"/>
          </a:p>
        </p:txBody>
      </p:sp>
      <p:sp>
        <p:nvSpPr>
          <p:cNvPr id="3" name="Text 0"/>
          <p:cNvSpPr/>
          <p:nvPr>
            <p:ph idx="101" type="body" hasCustomPrompt="1"/>
          </p:nvPr>
        </p:nvSpPr>
        <p:spPr>
          <a:xfrm>
            <a:off x="731520" y="3291840"/>
            <a:ext cx="10698480" cy="1280160"/>
          </a:xfrm>
          <a:prstGeom prst="rect">
            <a:avLst/>
          </a:prstGeom>
          <a:noFill/>
          <a:ln/>
        </p:spPr>
        <p:txBody>
          <a:bodyPr wrap="square" rtlCol="0" anchor="t"/>
          <a:lstStyle/>
          <a:p>
            <a:pPr indent="0" marL="0">
              <a:buNone/>
            </a:pPr>
            <a:r>
              <a:rPr lang="en-US" sz="2200" dirty="0">
                <a:solidFill>
                  <a:schemeClr val="bg2"/>
                </a:solidFill>
              </a:rPr>
              <a:t>94.7% at 30 min · 91.1% at 1 h · 84.9% at 2 h — on 187 unseen people, confirmed on an external dataset</a:t>
            </a:r>
            <a:endParaRPr lang="en-US" sz="2200" dirty="0"/>
          </a:p>
        </p:txBody>
      </p:sp>
      <p:sp>
        <p:nvSpPr>
          <p:cNvPr id="4" name="logo-end-circle"/>
          <p:cNvSpPr/>
          <p:nvPr/>
        </p:nvSpPr>
        <p:spPr>
          <a:xfrm>
            <a:off x="731520" y="731520"/>
            <a:ext cx="914400" cy="914400"/>
          </a:xfrm>
          <a:prstGeom prst="ellipse">
            <a:avLst/>
          </a:prstGeom>
          <a:solidFill>
            <a:schemeClr val="accent2"/>
          </a:solidFill>
          <a:ln w="12700">
            <a:solidFill>
              <a:schemeClr val="accent2"/>
            </a:solidFill>
            <a:prstDash val="solid"/>
          </a:ln>
        </p:spPr>
      </p:sp>
      <p:pic>
        <p:nvPicPr>
          <p:cNvPr id="5" name="logo-end-icon" descr="preencoded.png">    </p:cNvPr>
          <p:cNvPicPr>
            <a:picLocks noChangeAspect="1"/>
          </p:cNvPicPr>
          <p:nvPr/>
        </p:nvPicPr>
        <p:blipFill>
          <a:blip r:embed="rId1"/>
          <a:stretch>
            <a:fillRect/>
          </a:stretch>
        </p:blipFill>
        <p:spPr>
          <a:xfrm>
            <a:off x="950976" y="950976"/>
            <a:ext cx="475488" cy="475488"/>
          </a:xfrm>
          <a:prstGeom prst="rect">
            <a:avLst/>
          </a:prstGeom>
        </p:spPr>
      </p:pic>
      <p:sp>
        <p:nvSpPr>
          <p:cNvPr id="6" name="Text 3"/>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600" dirty="0">
                <a:solidFill>
                  <a:schemeClr val="bg2"/>
                </a:solidFill>
              </a:rPr>
              <a:t>hackers_ · IIT (ISM) Dhanbad  ·  Code (MIT): github.com/KorraSanthosh/happiness_   ·   Thank you</a:t>
            </a:r>
            <a:endParaRPr lang="en-US" sz="1600" dirty="0"/>
          </a:p>
        </p:txBody>
      </p:sp>
    </p:spTree>
  </p:cSld>
  <p:clrMapOvr>
    <a:masterClrMapping/>
  </p:clrMapOvr>
</p:sld>
</file>

<file path=ppt/theme/theme1.xml><?xml version="1.0" encoding="utf-8"?>
<a:theme xmlns:a="http://schemas.openxmlformats.org/drawingml/2006/main" name="GlucoTwin">
  <a:themeElements>
    <a:clrScheme name="GlucoTwin">
      <a:dk1>
        <a:srgbClr val="1B2430"/>
      </a:dk1>
      <a:lt1>
        <a:srgbClr val="FFFFFF"/>
      </a:lt1>
      <a:dk2>
        <a:srgbClr val="0B2545"/>
      </a:dk2>
      <a:lt2>
        <a:srgbClr val="EEF4F7"/>
      </a:lt2>
      <a:accent1>
        <a:srgbClr val="0E7C86"/>
      </a:accent1>
      <a:accent2>
        <a:srgbClr val="E4572E"/>
      </a:accent2>
      <a:accent3>
        <a:srgbClr val="F3A712"/>
      </a:accent3>
      <a:accent4>
        <a:srgbClr val="29A36A"/>
      </a:accent4>
      <a:accent5>
        <a:srgbClr val="5B7DB1"/>
      </a:accent5>
      <a:accent6>
        <a:srgbClr val="8A94A6"/>
      </a:accent6>
      <a:hlink>
        <a:srgbClr val="0E7C86"/>
      </a:hlink>
      <a:folHlink>
        <a:srgbClr val="5B7DB1"/>
      </a:folHlink>
    </a:clrScheme>
    <a:fontScheme name="Gluco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Diabetes Digital Twin</dc:title>
  <dc:subject>PptxGenJS Presentation</dc:subject>
  <dc:creator>GlucoTwin team</dc:creator>
  <cp:lastModifiedBy>GlucoTwin team</cp:lastModifiedBy>
  <cp:revision>1</cp:revision>
  <dcterms:created xsi:type="dcterms:W3CDTF">2026-10-23T09:23:54Z</dcterms:created>
  <dcterms:modified xsi:type="dcterms:W3CDTF">2026-10-23T09:23:54Z</dcterms:modified>
</cp:coreProperties>
</file>